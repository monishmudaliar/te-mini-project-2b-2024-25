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5"/>
  </p:notesMasterIdLst>
  <p:sldIdLst>
    <p:sldId id="256" r:id="rId4"/>
    <p:sldId id="257" r:id="rId6"/>
    <p:sldId id="258" r:id="rId7"/>
    <p:sldId id="276" r:id="rId8"/>
    <p:sldId id="269" r:id="rId9"/>
    <p:sldId id="274" r:id="rId10"/>
    <p:sldId id="266" r:id="rId11"/>
    <p:sldId id="270" r:id="rId12"/>
    <p:sldId id="275" r:id="rId13"/>
    <p:sldId id="267" r:id="rId14"/>
    <p:sldId id="262" r:id="rId15"/>
    <p:sldId id="263" r:id="rId16"/>
    <p:sldId id="278" r:id="rId17"/>
    <p:sldId id="264" r:id="rId18"/>
    <p:sldId id="277" r:id="rId19"/>
    <p:sldId id="279" r:id="rId20"/>
    <p:sldId id="280" r:id="rId21"/>
    <p:sldId id="281" r:id="rId22"/>
    <p:sldId id="265" r:id="rId23"/>
    <p:sldId id="268" r:id="rId24"/>
    <p:sldId id="260" r:id="rId25"/>
  </p:sldIdLst>
  <p:sldSz cx="10080625" cy="7559675"/>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96"/>
    <p:restoredTop sz="94631"/>
  </p:normalViewPr>
  <p:slideViewPr>
    <p:cSldViewPr showGuides="1">
      <p:cViewPr varScale="1">
        <p:scale>
          <a:sx n="73" d="100"/>
          <a:sy n="73" d="100"/>
        </p:scale>
        <p:origin x="1526" y="96"/>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Rectangle 1"/>
          <p:cNvSpPr>
            <a:spLocks noGrp="1"/>
          </p:cNvSpPr>
          <p:nvPr>
            <p:ph type="sldImg"/>
          </p:nvPr>
        </p:nvSpPr>
        <p:spPr>
          <a:xfrm>
            <a:off x="215900" y="812800"/>
            <a:ext cx="7126288" cy="4006850"/>
          </a:xfrm>
          <a:prstGeom prst="rect">
            <a:avLst/>
          </a:prstGeom>
          <a:noFill/>
          <a:ln w="9525">
            <a:noFill/>
          </a:ln>
        </p:spPr>
      </p:sp>
      <p:sp>
        <p:nvSpPr>
          <p:cNvPr id="2" name="Rectangle 2"/>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lstStyle/>
          <a:p>
            <a:pPr marL="0" marR="0" lvl="0" indent="0" algn="l" defTabSz="44958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a:pPr>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6" charset="0"/>
              <a:ea typeface="+mn-ea"/>
              <a:cs typeface="+mn-cs"/>
            </a:endParaRPr>
          </a:p>
        </p:txBody>
      </p:sp>
      <p:sp>
        <p:nvSpPr>
          <p:cNvPr id="3075" name="Rectangle 3"/>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6" name="Rectangle 4"/>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lstStyle>
            <a:lvl1pPr algn="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7" name="Rectangle 5"/>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lstStyle>
            <a:lvl1pPr eaLnBrk="1" fontAlgn="auto"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sz="1400">
                <a:solidFill>
                  <a:srgbClr val="000000"/>
                </a:solidFill>
                <a:latin typeface="Times New Roman" panose="02020603050405020304" pitchFamily="16" charset="0"/>
                <a:cs typeface="DejaVu Sans" charset="0"/>
              </a:defRPr>
            </a:lvl1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Lst>
              <a:defRPr/>
            </a:pPr>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6" charset="0"/>
              <a:ea typeface="+mn-ea"/>
              <a:cs typeface="DejaVu Sans" charset="0"/>
            </a:endParaRPr>
          </a:p>
        </p:txBody>
      </p:sp>
      <p:sp>
        <p:nvSpPr>
          <p:cNvPr id="3078" name="Rectangle 6"/>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
            <a:pPr lvl="0" algn="r" defTabSz="457200" eaLnBrk="1" hangingPunct="1">
              <a:lnSpc>
                <a:spcPct val="93000"/>
              </a:lnSpc>
              <a:buClr>
                <a:srgbClr val="000000"/>
              </a:buClr>
              <a:buSzPct val="100000"/>
              <a:buFont typeface="Times New Roman" panose="02020603050405020304" pitchFamily="16" charset="0"/>
              <a:buNone/>
              <a:tabLst>
                <a:tab pos="449580" algn="l"/>
                <a:tab pos="898525" algn="l"/>
                <a:tab pos="1348105" algn="l"/>
                <a:tab pos="1797050" algn="l"/>
                <a:tab pos="2246630" algn="l"/>
                <a:tab pos="2695575" algn="l"/>
                <a:tab pos="3145155" algn="l"/>
              </a:tabLst>
            </a:pPr>
            <a:fld id="{9A0DB2DC-4C9A-4742-B13C-FB6460FD3503}" type="slidenum">
              <a:rPr lang="en-IN" altLang="en-US" sz="1400" dirty="0">
                <a:solidFill>
                  <a:srgbClr val="000000"/>
                </a:solidFill>
                <a:latin typeface="Times New Roman" panose="02020603050405020304" pitchFamily="16" charset="0"/>
                <a:cs typeface="DejaVu Sans" charset="0"/>
              </a:rPr>
            </a:fld>
            <a:endParaRPr lang="en-IN" altLang="en-US" sz="1400" dirty="0">
              <a:solidFill>
                <a:srgbClr val="000000"/>
              </a:solidFill>
              <a:latin typeface="Times New Roman" panose="02020603050405020304" pitchFamily="16" charset="0"/>
              <a:ea typeface="DejaVu Sans" charset="0"/>
              <a:cs typeface="DejaVu Sans" charset="0"/>
            </a:endParaRPr>
          </a:p>
        </p:txBody>
      </p:sp>
    </p:spTree>
  </p:cSld>
  <p:clrMap bg1="lt1" tx1="dk1" bg2="lt2" tx2="dk2" accent1="accent1" accent2="accent2" accent3="accent3" accent4="accent4" accent5="accent5" accent6="accent6" hlink="hlink" folHlink="folHlink"/>
  <p:hf sldNum="0" hdr="0" ftr="0" dt="0"/>
  <p:notesStyle>
    <a:lvl1pPr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49580"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170"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7171" name="Rectangle 1"/>
          <p:cNvSpPr>
            <a:spLocks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7172"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921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9219" name="Rectangle 1"/>
          <p:cNvSpPr>
            <a:spLocks noTextEdit="1"/>
          </p:cNvSpPr>
          <p:nvPr>
            <p:ph type="sldImg"/>
          </p:nvPr>
        </p:nvSpPr>
        <p:spPr>
          <a:xfrm>
            <a:off x="215900" y="812800"/>
            <a:ext cx="7127875" cy="4008438"/>
          </a:xfrm>
          <a:solidFill>
            <a:srgbClr val="FFFFFF">
              <a:alpha val="100000"/>
            </a:srgbClr>
          </a:solidFill>
          <a:ln>
            <a:solidFill>
              <a:srgbClr val="000000">
                <a:alpha val="100000"/>
              </a:srgbClr>
            </a:solidFill>
            <a:miter lim="800000"/>
          </a:ln>
        </p:spPr>
      </p:sp>
      <p:sp>
        <p:nvSpPr>
          <p:cNvPr id="9220"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26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1267" name="Rectangle 1"/>
          <p:cNvSpPr>
            <a:spLocks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1268"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31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3315" name="Rectangle 1"/>
          <p:cNvSpPr>
            <a:spLocks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3316"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38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638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6388"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43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1843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18436"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482"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0483"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0484"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57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4579"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4580"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662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662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6628"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867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28675"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28676"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22"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0723"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0724"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770"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2771"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2772"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770"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2771"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2772" name="Rectangle 2"/>
          <p:cNvSpPr>
            <a:spLocks noGrp="1"/>
          </p:cNvSpPr>
          <p:nvPr>
            <p:ph type="body" idx="1"/>
          </p:nvPr>
        </p:nvSpPr>
        <p:spPr>
          <a:xfrm>
            <a:off x="755650" y="5078413"/>
            <a:ext cx="6048375" cy="4811712"/>
          </a:xfrm>
        </p:spPr>
        <p:txBody>
          <a:bodyPr wrap="none" lIns="0" tIns="0" rIns="0" bIns="0" anchor="ctr" anchorCtr="0"/>
          <a:p>
            <a:pPr lvl="0"/>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770"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2771"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2772" name="Rectangle 2"/>
          <p:cNvSpPr>
            <a:spLocks noGrp="1"/>
          </p:cNvSpPr>
          <p:nvPr>
            <p:ph type="body" idx="1"/>
          </p:nvPr>
        </p:nvSpPr>
        <p:spPr>
          <a:xfrm>
            <a:off x="755650" y="5078413"/>
            <a:ext cx="6048375" cy="4811712"/>
          </a:xfrm>
        </p:spPr>
        <p:txBody>
          <a:bodyPr wrap="none" lIns="0" tIns="0" rIns="0" bIns="0" anchor="ctr" anchorCtr="0"/>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770"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2771"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2772" name="Rectangle 2"/>
          <p:cNvSpPr>
            <a:spLocks noGrp="1"/>
          </p:cNvSpPr>
          <p:nvPr>
            <p:ph type="body" idx="1"/>
          </p:nvPr>
        </p:nvSpPr>
        <p:spPr>
          <a:xfrm>
            <a:off x="755650" y="5078413"/>
            <a:ext cx="6048375" cy="4811712"/>
          </a:xfrm>
        </p:spPr>
        <p:txBody>
          <a:bodyPr wrap="none" lIns="0" tIns="0" rIns="0" bIns="0" anchor="ctr" anchorCtr="0"/>
          <a:p>
            <a:pPr lvl="0"/>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818"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4819"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4820"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866"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6867" name="Rectangle 1"/>
          <p:cNvSpPr>
            <a:spLocks noGrp="1" noRot="1" noChangeAspect="1"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6868" name="Rectangle 2"/>
          <p:cNvSpPr>
            <a:spLocks noGrp="1"/>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914" name="Rectangle 6"/>
          <p:cNvSpPr txBox="1">
            <a:spLocks noGrp="1"/>
          </p:cNvSpPr>
          <p:nvPr>
            <p:ph type="sldNum" sz="quarter"/>
          </p:nvPr>
        </p:nvSpPr>
        <p:spPr>
          <a:xfrm>
            <a:off x="4278313" y="10156825"/>
            <a:ext cx="3279775" cy="533400"/>
          </a:xfrm>
          <a:prstGeom prst="rect">
            <a:avLst/>
          </a:prstGeom>
          <a:noFill/>
          <a:ln w="9525">
            <a:noFill/>
          </a:ln>
        </p:spPr>
        <p:txBody>
          <a:bodyPr lIns="0" tIns="0" rIns="0" bIns="0" anchor="b" anchorCtr="0"/>
          <a:p>
            <a:pPr lvl="0" algn="r" defTabSz="457200" eaLnBrk="1" hangingPunct="1">
              <a:lnSpc>
                <a:spcPct val="93000"/>
              </a:lnSpc>
              <a:spcBef>
                <a:spcPct val="0"/>
              </a:spcBef>
              <a:tabLst>
                <a:tab pos="449580" algn="l"/>
                <a:tab pos="898525" algn="l"/>
                <a:tab pos="1348105" algn="l"/>
                <a:tab pos="1797050" algn="l"/>
                <a:tab pos="2246630" algn="l"/>
                <a:tab pos="2695575" algn="l"/>
                <a:tab pos="3145155" algn="l"/>
              </a:tabLst>
            </a:pPr>
            <a:fld id="{9A0DB2DC-4C9A-4742-B13C-FB6460FD3503}" type="slidenum">
              <a:rPr lang="en-IN" altLang="en-US" sz="1400" dirty="0">
                <a:cs typeface="DejaVu Sans" charset="0"/>
              </a:rPr>
            </a:fld>
            <a:endParaRPr lang="en-IN" altLang="en-US" sz="1400" dirty="0">
              <a:ea typeface="DejaVu Sans" charset="0"/>
              <a:cs typeface="DejaVu Sans" charset="0"/>
            </a:endParaRPr>
          </a:p>
        </p:txBody>
      </p:sp>
      <p:sp>
        <p:nvSpPr>
          <p:cNvPr id="38915" name="Rectangle 1"/>
          <p:cNvSpPr>
            <a:spLocks noTextEdit="1"/>
          </p:cNvSpPr>
          <p:nvPr>
            <p:ph type="sldImg"/>
          </p:nvPr>
        </p:nvSpPr>
        <p:spPr>
          <a:xfrm>
            <a:off x="1106488" y="812800"/>
            <a:ext cx="5346700" cy="4008438"/>
          </a:xfrm>
          <a:solidFill>
            <a:srgbClr val="FFFFFF">
              <a:alpha val="100000"/>
            </a:srgbClr>
          </a:solidFill>
          <a:ln>
            <a:solidFill>
              <a:srgbClr val="000000">
                <a:alpha val="100000"/>
              </a:srgbClr>
            </a:solidFill>
            <a:miter lim="800000"/>
          </a:ln>
        </p:spPr>
      </p:sp>
      <p:sp>
        <p:nvSpPr>
          <p:cNvPr id="38916" name="Rectangle 2"/>
          <p:cNvSpPr/>
          <p:nvPr>
            <p:ph type="body" idx="1"/>
          </p:nvPr>
        </p:nvSpPr>
        <p:spPr>
          <a:xfrm>
            <a:off x="755650" y="5078413"/>
            <a:ext cx="6048375" cy="4811712"/>
          </a:xfrm>
          <a:ln/>
        </p:spPr>
        <p:txBody>
          <a:bodyPr wrap="none" lIns="0" tIns="0" rIns="0" bIns="0"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BBBD74C-7E18-42E4-8FB9-23CA44FFC795}"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240A036-1635-4E72-8445-1D908221959D}"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CE25080B-07A6-4A40-8343-1B87DF5C78E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2050" name="Group 17"/>
          <p:cNvGrpSpPr/>
          <p:nvPr/>
        </p:nvGrpSpPr>
        <p:grpSpPr>
          <a:xfrm>
            <a:off x="-9525" y="-9525"/>
            <a:ext cx="10110788" cy="7578725"/>
            <a:chOff x="-8466" y="-8468"/>
            <a:chExt cx="9171316" cy="6874935"/>
          </a:xfrm>
        </p:grpSpPr>
        <p:cxnSp>
          <p:nvCxnSpPr>
            <p:cNvPr id="4" name="Straight Connector 2"/>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8" name="Freeform 29"/>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3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31"/>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3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3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3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3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17"/>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4190" indent="0" algn="ctr">
              <a:buNone/>
              <a:defRPr>
                <a:solidFill>
                  <a:schemeClr val="tx1">
                    <a:tint val="75000"/>
                  </a:schemeClr>
                </a:solidFill>
              </a:defRPr>
            </a:lvl2pPr>
            <a:lvl3pPr marL="1007745" indent="0" algn="ctr">
              <a:buNone/>
              <a:defRPr>
                <a:solidFill>
                  <a:schemeClr val="tx1">
                    <a:tint val="75000"/>
                  </a:schemeClr>
                </a:solidFill>
              </a:defRPr>
            </a:lvl3pPr>
            <a:lvl4pPr marL="1511935" indent="0" algn="ctr">
              <a:buNone/>
              <a:defRPr>
                <a:solidFill>
                  <a:schemeClr val="tx1">
                    <a:tint val="75000"/>
                  </a:schemeClr>
                </a:solidFill>
              </a:defRPr>
            </a:lvl4pPr>
            <a:lvl5pPr marL="2016125" indent="0" algn="ctr">
              <a:buNone/>
              <a:defRPr>
                <a:solidFill>
                  <a:schemeClr val="tx1">
                    <a:tint val="75000"/>
                  </a:schemeClr>
                </a:solidFill>
              </a:defRPr>
            </a:lvl5pPr>
            <a:lvl6pPr marL="2519680" indent="0" algn="ctr">
              <a:buNone/>
              <a:defRPr>
                <a:solidFill>
                  <a:schemeClr val="tx1">
                    <a:tint val="75000"/>
                  </a:schemeClr>
                </a:solidFill>
              </a:defRPr>
            </a:lvl6pPr>
            <a:lvl7pPr marL="3023870" indent="0" algn="ctr">
              <a:buNone/>
              <a:defRPr>
                <a:solidFill>
                  <a:schemeClr val="tx1">
                    <a:tint val="75000"/>
                  </a:schemeClr>
                </a:solidFill>
              </a:defRPr>
            </a:lvl7pPr>
            <a:lvl8pPr marL="3528060" indent="0" algn="ctr">
              <a:buNone/>
              <a:defRPr>
                <a:solidFill>
                  <a:schemeClr val="tx1">
                    <a:tint val="75000"/>
                  </a:schemeClr>
                </a:solidFill>
              </a:defRPr>
            </a:lvl8pPr>
            <a:lvl9pPr marL="4031615" indent="0" algn="ctr">
              <a:buNone/>
              <a:defRPr>
                <a:solidFill>
                  <a:schemeClr val="tx1">
                    <a:tint val="75000"/>
                  </a:schemeClr>
                </a:solidFill>
              </a:defRPr>
            </a:lvl9pPr>
          </a:lstStyle>
          <a:p>
            <a:r>
              <a:rPr lang="en-US"/>
              <a:t>Click to edit Master subtitle style</a:t>
            </a:r>
            <a:endParaRPr lang="en-US" dirty="0"/>
          </a:p>
        </p:txBody>
      </p:sp>
      <p:sp>
        <p:nvSpPr>
          <p:cNvPr id="26"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BBBD74C-7E18-42E4-8FB9-23CA44FFC795}"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7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1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5"/>
            </a:lvl1pPr>
            <a:lvl2pPr>
              <a:defRPr sz="1765"/>
            </a:lvl2pPr>
            <a:lvl3pPr>
              <a:defRPr sz="1545"/>
            </a:lvl3pPr>
            <a:lvl4pPr>
              <a:defRPr sz="1325"/>
            </a:lvl4pPr>
            <a:lvl5pPr>
              <a:defRPr sz="1325"/>
            </a:lvl5pPr>
            <a:lvl6pPr>
              <a:defRPr sz="1325"/>
            </a:lvl6pPr>
            <a:lvl7pPr>
              <a:defRPr sz="1325"/>
            </a:lvl7pPr>
            <a:lvl8pPr>
              <a:defRPr sz="1325"/>
            </a:lvl8pPr>
            <a:lvl9pPr>
              <a:defRPr sz="132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5" b="0"/>
            </a:lvl1pPr>
            <a:lvl2pPr marL="504190" indent="0">
              <a:buNone/>
              <a:defRPr sz="2205" b="1"/>
            </a:lvl2pPr>
            <a:lvl3pPr marL="1007745" indent="0">
              <a:buNone/>
              <a:defRPr sz="1985" b="1"/>
            </a:lvl3pPr>
            <a:lvl4pPr marL="1511935" indent="0">
              <a:buNone/>
              <a:defRPr sz="1765" b="1"/>
            </a:lvl4pPr>
            <a:lvl5pPr marL="2016125" indent="0">
              <a:buNone/>
              <a:defRPr sz="1765" b="1"/>
            </a:lvl5pPr>
            <a:lvl6pPr marL="2519680" indent="0">
              <a:buNone/>
              <a:defRPr sz="1765" b="1"/>
            </a:lvl6pPr>
            <a:lvl7pPr marL="3023870" indent="0">
              <a:buNone/>
              <a:defRPr sz="1765" b="1"/>
            </a:lvl7pPr>
            <a:lvl8pPr marL="3528060" indent="0">
              <a:buNone/>
              <a:defRPr sz="1765" b="1"/>
            </a:lvl8pPr>
            <a:lvl9pPr marL="4031615" indent="0">
              <a:buNone/>
              <a:defRPr sz="1765" b="1"/>
            </a:lvl9pPr>
          </a:lstStyle>
          <a:p>
            <a:pPr lvl="0"/>
            <a:r>
              <a:rPr lang="en-US"/>
              <a:t>Click to edit Master text styles</a:t>
            </a:r>
            <a:endParaRPr lang="en-US"/>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5"/>
            </a:lvl1pPr>
            <a:lvl2pPr marL="377825" indent="0">
              <a:buNone/>
              <a:defRPr sz="1155"/>
            </a:lvl2pPr>
            <a:lvl3pPr marL="755650" indent="0">
              <a:buNone/>
              <a:defRPr sz="990"/>
            </a:lvl3pPr>
            <a:lvl4pPr marL="1134110" indent="0">
              <a:buNone/>
              <a:defRPr sz="825"/>
            </a:lvl4pPr>
            <a:lvl5pPr marL="1511935" indent="0">
              <a:buNone/>
              <a:defRPr sz="825"/>
            </a:lvl5pPr>
            <a:lvl6pPr marL="1889760" indent="0">
              <a:buNone/>
              <a:defRPr sz="825"/>
            </a:lvl6pPr>
            <a:lvl7pPr marL="2267585" indent="0">
              <a:buNone/>
              <a:defRPr sz="825"/>
            </a:lvl7pPr>
            <a:lvl8pPr marL="2646045" indent="0">
              <a:buNone/>
              <a:defRPr sz="825"/>
            </a:lvl8pPr>
            <a:lvl9pPr marL="3023870" indent="0">
              <a:buNone/>
              <a:defRPr sz="825"/>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vert="horz" wrap="square" lIns="91440" tIns="45720" rIns="91440" bIns="45720" numCol="1" rtlCol="0" anchor="t" anchorCtr="0" compatLnSpc="1">
            <a:normAutofit/>
          </a:bodyPr>
          <a:lstStyle>
            <a:lvl1pPr marL="0" indent="0" algn="ctr">
              <a:buNone/>
              <a:defRPr sz="1765"/>
            </a:lvl1pPr>
            <a:lvl2pPr marL="504190" indent="0">
              <a:buNone/>
              <a:defRPr sz="1765"/>
            </a:lvl2pPr>
            <a:lvl3pPr marL="1007745" indent="0">
              <a:buNone/>
              <a:defRPr sz="1765"/>
            </a:lvl3pPr>
            <a:lvl4pPr marL="1511935" indent="0">
              <a:buNone/>
              <a:defRPr sz="1765"/>
            </a:lvl4pPr>
            <a:lvl5pPr marL="2016125" indent="0">
              <a:buNone/>
              <a:defRPr sz="1765"/>
            </a:lvl5pPr>
            <a:lvl6pPr marL="2519680" indent="0">
              <a:buNone/>
              <a:defRPr sz="1765"/>
            </a:lvl6pPr>
            <a:lvl7pPr marL="3023870" indent="0">
              <a:buNone/>
              <a:defRPr sz="1765"/>
            </a:lvl7pPr>
            <a:lvl8pPr marL="3528060" indent="0">
              <a:buNone/>
              <a:defRPr sz="1765"/>
            </a:lvl8pPr>
            <a:lvl9pPr marL="4031615" indent="0">
              <a:buNone/>
              <a:defRPr sz="1765"/>
            </a:lvl9pPr>
          </a:lstStyle>
          <a:p>
            <a:pPr marL="0" marR="0" lvl="0" indent="0" algn="ctr" defTabSz="503555" rtl="0" eaLnBrk="0" fontAlgn="base" latinLnBrk="0" hangingPunct="0">
              <a:lnSpc>
                <a:spcPct val="100000"/>
              </a:lnSpc>
              <a:spcBef>
                <a:spcPts val="1100"/>
              </a:spcBef>
              <a:spcAft>
                <a:spcPct val="0"/>
              </a:spcAft>
              <a:buClr>
                <a:schemeClr val="accent1"/>
              </a:buClr>
              <a:buSzPct val="80000"/>
              <a:buFont typeface="Wingdings 3" panose="05040102010807070707" pitchFamily="82" charset="2"/>
              <a:buNone/>
              <a:defRPr/>
            </a:pPr>
            <a:r>
              <a:rPr kumimoji="0" lang="en-US" sz="1765"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765"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5"/>
            </a:lvl1pPr>
            <a:lvl2pPr marL="504190" indent="0">
              <a:buNone/>
              <a:defRPr sz="1325"/>
            </a:lvl2pPr>
            <a:lvl3pPr marL="1007745" indent="0">
              <a:buNone/>
              <a:defRPr sz="1100"/>
            </a:lvl3pPr>
            <a:lvl4pPr marL="1511935" indent="0">
              <a:buNone/>
              <a:defRPr sz="990"/>
            </a:lvl4pPr>
            <a:lvl5pPr marL="2016125" indent="0">
              <a:buNone/>
              <a:defRPr sz="990"/>
            </a:lvl5pPr>
            <a:lvl6pPr marL="2519680" indent="0">
              <a:buNone/>
              <a:defRPr sz="990"/>
            </a:lvl6pPr>
            <a:lvl7pPr marL="3023870" indent="0">
              <a:buNone/>
              <a:defRPr sz="990"/>
            </a:lvl7pPr>
            <a:lvl8pPr marL="3528060" indent="0">
              <a:buNone/>
              <a:defRPr sz="990"/>
            </a:lvl8pPr>
            <a:lvl9pPr marL="4031615" indent="0">
              <a:buNone/>
              <a:defRPr sz="99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5">
                <a:solidFill>
                  <a:schemeClr val="tx1">
                    <a:lumMod val="50000"/>
                    <a:lumOff val="50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240A036-1635-4E72-8445-1D908221959D}"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75000"/>
                    <a:lumOff val="25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bg>
      <p:bgPr>
        <a:solidFill>
          <a:schemeClr val="bg1"/>
        </a:solidFill>
        <a:effectLst/>
      </p:bgPr>
    </p:bg>
    <p:spTree>
      <p:nvGrpSpPr>
        <p:cNvPr id="1" name=""/>
        <p:cNvGrpSpPr/>
        <p:nvPr/>
      </p:nvGrpSpPr>
      <p:grpSpPr>
        <a:xfrm>
          <a:off x="0" y="0"/>
          <a:ext cx="0" cy="0"/>
          <a:chOff x="0" y="0"/>
          <a:chExt cx="0" cy="0"/>
        </a:xfrm>
      </p:grpSpPr>
      <p:sp>
        <p:nvSpPr>
          <p:cNvPr id="4" name="TextBox 1"/>
          <p:cNvSpPr txBox="1"/>
          <p:nvPr/>
        </p:nvSpPr>
        <p:spPr>
          <a:xfrm>
            <a:off x="531813" y="871538"/>
            <a:ext cx="504825"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5" name="TextBox 2"/>
          <p:cNvSpPr txBox="1"/>
          <p:nvPr/>
        </p:nvSpPr>
        <p:spPr>
          <a:xfrm>
            <a:off x="7439025" y="3181350"/>
            <a:ext cx="503238" cy="644525"/>
          </a:xfrm>
          <a:prstGeom prst="rect">
            <a:avLst/>
          </a:prstGeom>
        </p:spPr>
        <p:txBody>
          <a:bodyPr lIns="100796" tIns="50398" rIns="100796" bIns="50398"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rPr>
              <a:t>”</a:t>
            </a:r>
            <a:endParaRPr kumimoji="0" lang="en-US" sz="8820" b="0" i="0" u="none" strike="noStrike" kern="1200" cap="none" spc="0" normalizeH="0" baseline="0" noProof="0" dirty="0">
              <a:ln w="3175" cmpd="sng">
                <a:noFill/>
              </a:ln>
              <a:solidFill>
                <a:schemeClr val="accent1">
                  <a:lumMod val="60000"/>
                  <a:lumOff val="40000"/>
                </a:schemeClr>
              </a:solidFill>
              <a:effectLst/>
              <a:uLnTx/>
              <a:uFillTx/>
              <a:latin typeface="Arial" panose="020B0604020202020204"/>
              <a:ea typeface="+mn-ea"/>
              <a:cs typeface="+mn-cs"/>
            </a:endParaRP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tx1">
                    <a:lumMod val="75000"/>
                    <a:lumOff val="25000"/>
                  </a:schemeClr>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17"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CE25080B-07A6-4A40-8343-1B87DF5C78E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8"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p>
            <a:pPr algn="r" eaLnBrk="1" hangingPunct="1">
              <a:buNone/>
            </a:pPr>
            <a:fld id="{9A0DB2DC-4C9A-4742-B13C-FB6460FD3503}" type="slidenum">
              <a:rPr lang="en-US" dirty="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5">
                <a:solidFill>
                  <a:schemeClr val="accent1"/>
                </a:solidFill>
              </a:defRPr>
            </a:lvl1pPr>
            <a:lvl2pPr marL="504190" indent="0">
              <a:buFontTx/>
              <a:buNone/>
              <a:defRPr/>
            </a:lvl2pPr>
            <a:lvl3pPr marL="1007745" indent="0">
              <a:buFontTx/>
              <a:buNone/>
              <a:defRPr/>
            </a:lvl3pPr>
            <a:lvl4pPr marL="1511935" indent="0">
              <a:buFontTx/>
              <a:buNone/>
              <a:defRPr/>
            </a:lvl4pPr>
            <a:lvl5pPr marL="2016125"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5">
                <a:solidFill>
                  <a:schemeClr val="tx1">
                    <a:lumMod val="50000"/>
                    <a:lumOff val="50000"/>
                  </a:schemeClr>
                </a:solidFill>
              </a:defRPr>
            </a:lvl1pPr>
            <a:lvl2pPr marL="504190" indent="0">
              <a:buNone/>
              <a:defRPr sz="1985">
                <a:solidFill>
                  <a:schemeClr val="tx1">
                    <a:tint val="75000"/>
                  </a:schemeClr>
                </a:solidFill>
              </a:defRPr>
            </a:lvl2pPr>
            <a:lvl3pPr marL="1007745" indent="0">
              <a:buNone/>
              <a:defRPr sz="1765">
                <a:solidFill>
                  <a:schemeClr val="tx1">
                    <a:tint val="75000"/>
                  </a:schemeClr>
                </a:solidFill>
              </a:defRPr>
            </a:lvl3pPr>
            <a:lvl4pPr marL="1511935" indent="0">
              <a:buNone/>
              <a:defRPr sz="1545">
                <a:solidFill>
                  <a:schemeClr val="tx1">
                    <a:tint val="75000"/>
                  </a:schemeClr>
                </a:solidFill>
              </a:defRPr>
            </a:lvl4pPr>
            <a:lvl5pPr marL="2016125" indent="0">
              <a:buNone/>
              <a:defRPr sz="1545">
                <a:solidFill>
                  <a:schemeClr val="tx1">
                    <a:tint val="75000"/>
                  </a:schemeClr>
                </a:solidFill>
              </a:defRPr>
            </a:lvl5pPr>
            <a:lvl6pPr marL="2519680" indent="0">
              <a:buNone/>
              <a:defRPr sz="1545">
                <a:solidFill>
                  <a:schemeClr val="tx1">
                    <a:tint val="75000"/>
                  </a:schemeClr>
                </a:solidFill>
              </a:defRPr>
            </a:lvl6pPr>
            <a:lvl7pPr marL="3023870" indent="0">
              <a:buNone/>
              <a:defRPr sz="1545">
                <a:solidFill>
                  <a:schemeClr val="tx1">
                    <a:tint val="75000"/>
                  </a:schemeClr>
                </a:solidFill>
              </a:defRPr>
            </a:lvl7pPr>
            <a:lvl8pPr marL="3528060" indent="0">
              <a:buNone/>
              <a:defRPr sz="1545">
                <a:solidFill>
                  <a:schemeClr val="tx1">
                    <a:tint val="75000"/>
                  </a:schemeClr>
                </a:solidFill>
              </a:defRPr>
            </a:lvl8pPr>
            <a:lvl9pPr marL="4031615" indent="0">
              <a:buNone/>
              <a:defRPr sz="1545">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6"/>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16"/>
          <p:cNvGrpSpPr/>
          <p:nvPr/>
        </p:nvGrpSpPr>
        <p:grpSpPr>
          <a:xfrm>
            <a:off x="-9525" y="-9525"/>
            <a:ext cx="10110788" cy="7578725"/>
            <a:chOff x="-8467" y="-8468"/>
            <a:chExt cx="9171317" cy="6874935"/>
          </a:xfrm>
        </p:grpSpPr>
        <p:sp>
          <p:nvSpPr>
            <p:cNvPr id="7" name="Freeform 6"/>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p:cNvSpPr>
            <a:spLocks noGrp="1"/>
          </p:cNvSpPr>
          <p:nvPr>
            <p:ph type="title"/>
          </p:nvPr>
        </p:nvSpPr>
        <p:spPr>
          <a:xfrm>
            <a:off x="671513" y="671513"/>
            <a:ext cx="6997700" cy="1455737"/>
          </a:xfrm>
          <a:prstGeom prst="rect">
            <a:avLst/>
          </a:prstGeom>
          <a:noFill/>
          <a:ln w="9525">
            <a:noFill/>
          </a:ln>
        </p:spPr>
        <p:txBody>
          <a:bodyPr/>
          <a:p>
            <a:pPr lvl="0"/>
            <a:r>
              <a:rPr lang="en-US" altLang="en-US" dirty="0"/>
              <a:t>Click to edit Master title style</a:t>
            </a:r>
            <a:endParaRPr lang="en-US" altLang="en-US" dirty="0"/>
          </a:p>
        </p:txBody>
      </p:sp>
      <p:sp>
        <p:nvSpPr>
          <p:cNvPr id="1028" name="Text Placeholder 2"/>
          <p:cNvSpPr>
            <a:spLocks noGrp="1"/>
          </p:cNvSpPr>
          <p:nvPr>
            <p:ph type="body" idx="1"/>
          </p:nvPr>
        </p:nvSpPr>
        <p:spPr>
          <a:xfrm>
            <a:off x="671513" y="2381250"/>
            <a:ext cx="6997700" cy="427831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5959475" y="6659563"/>
            <a:ext cx="754063" cy="401638"/>
          </a:xfrm>
          <a:prstGeom prst="rect">
            <a:avLst/>
          </a:prstGeom>
        </p:spPr>
        <p:txBody>
          <a:bodyPr vert="horz" lIns="91440" tIns="45720" rIns="91440" bIns="45720" rtlCol="0" anchor="ctr"/>
          <a:lstStyle>
            <a:lvl1pPr algn="r" eaLnBrk="1" fontAlgn="auto" hangingPunct="1">
              <a:spcBef>
                <a:spcPts val="0"/>
              </a:spcBef>
              <a:spcAft>
                <a:spcPts val="0"/>
              </a:spcAft>
              <a:defRPr sz="99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1F5D9FB-6138-49FE-8022-950DBD4BF1F7}" type="datetimeFigureOut">
              <a:rPr kumimoji="0" lang="en-US" sz="99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sz="99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671513" y="6659563"/>
            <a:ext cx="5097463" cy="401638"/>
          </a:xfrm>
          <a:prstGeom prst="rect">
            <a:avLst/>
          </a:prstGeom>
        </p:spPr>
        <p:txBody>
          <a:bodyPr vert="horz" lIns="91440" tIns="45720" rIns="91440" bIns="45720" rtlCol="0" anchor="ctr"/>
          <a:lstStyle>
            <a:lvl1pPr algn="l" eaLnBrk="1" fontAlgn="auto" hangingPunct="1">
              <a:spcBef>
                <a:spcPts val="0"/>
              </a:spcBef>
              <a:spcAft>
                <a:spcPts val="0"/>
              </a:spcAft>
              <a:defRPr sz="99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99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7104063" y="6659563"/>
            <a:ext cx="565150" cy="401638"/>
          </a:xfrm>
          <a:prstGeom prst="rect">
            <a:avLst/>
          </a:prstGeom>
        </p:spPr>
        <p:txBody>
          <a:bodyPr vert="horz" lIns="91440" tIns="45720" rIns="91440" bIns="45720" rtlCol="0" anchor="ctr"/>
          <a:lstStyle>
            <a:lvl1pPr algn="r">
              <a:defRPr sz="900">
                <a:solidFill>
                  <a:schemeClr val="accent1"/>
                </a:solidFill>
              </a:defRPr>
            </a:lvl1pPr>
          </a:lstStyle>
          <a:p>
            <a:pPr lvl="0" eaLnBrk="1" hangingPunct="1">
              <a:buNone/>
            </a:pPr>
            <a:fld id="{9A0DB2DC-4C9A-4742-B13C-FB6460FD3503}" type="slidenum">
              <a:rPr lang="en-US" dirty="0">
                <a:latin typeface="Trebuchet MS" panose="020B0603020202020204" pitchFamily="34" charset="0"/>
              </a:rPr>
            </a:fld>
            <a:endParaRPr lang="en-US" dirty="0">
              <a:latin typeface="Trebuchet MS" panose="020B0603020202020204" pitchFamily="34" charset="0"/>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hf sldNum="0" hdr="0" ftr="0" dt="0"/>
  <p:txStyles>
    <p:titleStyle>
      <a:lvl1pPr algn="l" defTabSz="503555" rtl="0" eaLnBrk="0" fontAlgn="base" hangingPunct="0">
        <a:spcBef>
          <a:spcPct val="0"/>
        </a:spcBef>
        <a:spcAft>
          <a:spcPct val="0"/>
        </a:spcAft>
        <a:defRPr sz="3900" kern="1200">
          <a:solidFill>
            <a:schemeClr val="accent1"/>
          </a:solidFill>
          <a:latin typeface="+mj-lt"/>
          <a:ea typeface="+mj-ea"/>
          <a:cs typeface="+mj-cs"/>
        </a:defRPr>
      </a:lvl1pPr>
      <a:lvl2pPr algn="l" defTabSz="503555"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555"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555"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555"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vl6pPr marL="277177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6pPr>
      <a:lvl7pPr marL="3275965"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7pPr>
      <a:lvl8pPr marL="377952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8pPr>
      <a:lvl9pPr marL="4283710" indent="-252095" algn="l" defTabSz="504190" rtl="0" eaLnBrk="1" latinLnBrk="0" hangingPunct="1">
        <a:spcBef>
          <a:spcPts val="1100"/>
        </a:spcBef>
        <a:spcAft>
          <a:spcPts val="0"/>
        </a:spcAft>
        <a:buClr>
          <a:schemeClr val="accent1"/>
        </a:buClr>
        <a:buSzPct val="80000"/>
        <a:buFont typeface="Wingdings 3" panose="05040102010807070707" pitchFamily="82" charset="2"/>
        <a:buChar char=""/>
        <a:defRPr sz="1325" kern="1200">
          <a:solidFill>
            <a:schemeClr val="tx1">
              <a:lumMod val="75000"/>
              <a:lumOff val="25000"/>
            </a:schemeClr>
          </a:solidFill>
          <a:latin typeface="+mn-lt"/>
          <a:ea typeface="+mn-ea"/>
          <a:cs typeface="+mn-cs"/>
        </a:defRPr>
      </a:lvl9pPr>
    </p:bodyStyle>
    <p:otherStyle>
      <a:defPPr>
        <a:defRPr lang="en-US"/>
      </a:defPPr>
      <a:lvl1pPr marL="0" algn="l" defTabSz="504190" rtl="0" eaLnBrk="1" latinLnBrk="0" hangingPunct="1">
        <a:defRPr sz="1985" kern="1200">
          <a:solidFill>
            <a:schemeClr val="tx1"/>
          </a:solidFill>
          <a:latin typeface="+mn-lt"/>
          <a:ea typeface="+mn-ea"/>
          <a:cs typeface="+mn-cs"/>
        </a:defRPr>
      </a:lvl1pPr>
      <a:lvl2pPr marL="504190" algn="l" defTabSz="504190" rtl="0" eaLnBrk="1" latinLnBrk="0" hangingPunct="1">
        <a:defRPr sz="1985" kern="1200">
          <a:solidFill>
            <a:schemeClr val="tx1"/>
          </a:solidFill>
          <a:latin typeface="+mn-lt"/>
          <a:ea typeface="+mn-ea"/>
          <a:cs typeface="+mn-cs"/>
        </a:defRPr>
      </a:lvl2pPr>
      <a:lvl3pPr marL="1007745" algn="l" defTabSz="504190" rtl="0" eaLnBrk="1" latinLnBrk="0" hangingPunct="1">
        <a:defRPr sz="1985" kern="1200">
          <a:solidFill>
            <a:schemeClr val="tx1"/>
          </a:solidFill>
          <a:latin typeface="+mn-lt"/>
          <a:ea typeface="+mn-ea"/>
          <a:cs typeface="+mn-cs"/>
        </a:defRPr>
      </a:lvl3pPr>
      <a:lvl4pPr marL="1511935" algn="l" defTabSz="504190" rtl="0" eaLnBrk="1" latinLnBrk="0" hangingPunct="1">
        <a:defRPr sz="1985" kern="1200">
          <a:solidFill>
            <a:schemeClr val="tx1"/>
          </a:solidFill>
          <a:latin typeface="+mn-lt"/>
          <a:ea typeface="+mn-ea"/>
          <a:cs typeface="+mn-cs"/>
        </a:defRPr>
      </a:lvl4pPr>
      <a:lvl5pPr marL="2016125" algn="l" defTabSz="504190" rtl="0" eaLnBrk="1" latinLnBrk="0" hangingPunct="1">
        <a:defRPr sz="1985" kern="1200">
          <a:solidFill>
            <a:schemeClr val="tx1"/>
          </a:solidFill>
          <a:latin typeface="+mn-lt"/>
          <a:ea typeface="+mn-ea"/>
          <a:cs typeface="+mn-cs"/>
        </a:defRPr>
      </a:lvl5pPr>
      <a:lvl6pPr marL="2519680" algn="l" defTabSz="504190" rtl="0" eaLnBrk="1" latinLnBrk="0" hangingPunct="1">
        <a:defRPr sz="1985" kern="1200">
          <a:solidFill>
            <a:schemeClr val="tx1"/>
          </a:solidFill>
          <a:latin typeface="+mn-lt"/>
          <a:ea typeface="+mn-ea"/>
          <a:cs typeface="+mn-cs"/>
        </a:defRPr>
      </a:lvl6pPr>
      <a:lvl7pPr marL="3023870" algn="l" defTabSz="504190" rtl="0" eaLnBrk="1" latinLnBrk="0" hangingPunct="1">
        <a:defRPr sz="1985" kern="1200">
          <a:solidFill>
            <a:schemeClr val="tx1"/>
          </a:solidFill>
          <a:latin typeface="+mn-lt"/>
          <a:ea typeface="+mn-ea"/>
          <a:cs typeface="+mn-cs"/>
        </a:defRPr>
      </a:lvl7pPr>
      <a:lvl8pPr marL="3528060" algn="l" defTabSz="504190" rtl="0" eaLnBrk="1" latinLnBrk="0" hangingPunct="1">
        <a:defRPr sz="1985" kern="1200">
          <a:solidFill>
            <a:schemeClr val="tx1"/>
          </a:solidFill>
          <a:latin typeface="+mn-lt"/>
          <a:ea typeface="+mn-ea"/>
          <a:cs typeface="+mn-cs"/>
        </a:defRPr>
      </a:lvl8pPr>
      <a:lvl9pPr marL="4031615" algn="l" defTabSz="50419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hyperlink" Target="https://youtu.be/H6du_pfuznE?si=rbw87uY311D68Y_8" TargetMode="External"/><Relationship Id="rId1" Type="http://schemas.openxmlformats.org/officeDocument/2006/relationships/hyperlink" Target="https://doi.org/10.1109/ICSTM53887.2022.9768004"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1"/>
          <p:cNvSpPr>
            <a:spLocks noChangeArrowheads="1"/>
          </p:cNvSpPr>
          <p:nvPr/>
        </p:nvSpPr>
        <p:spPr bwMode="auto">
          <a:xfrm>
            <a:off x="503238" y="1768475"/>
            <a:ext cx="9070975" cy="5467350"/>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US" altLang="en-US" sz="3600" b="1" i="0" u="none" strike="noStrike" kern="1200" cap="none" spc="0" normalizeH="0" baseline="0" noProof="0" dirty="0" err="1">
                <a:ln>
                  <a:noFill/>
                </a:ln>
                <a:solidFill>
                  <a:schemeClr val="tx1"/>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StockVision</a:t>
            </a:r>
            <a:r>
              <a:rPr kumimoji="0" lang="en-IN" altLang="en-US" sz="36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 Stock Price Prediction</a:t>
            </a:r>
            <a:endParaRPr kumimoji="0" lang="en-IN" altLang="en-US" sz="36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Darshan </a:t>
            </a:r>
            <a:r>
              <a:rPr kumimoji="0" lang="en-IN" altLang="en-US" sz="3600" b="1"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korde</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23207003</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Snehal Pawar		23207002</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Atharva </a:t>
            </a:r>
            <a:r>
              <a:rPr kumimoji="0" lang="en-IN" altLang="en-US" sz="3600" b="1"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Nimkar</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22107025</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r>
              <a:rPr kumimoji="0" lang="en-IN" altLang="en-US" sz="3600" b="1"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Monish</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r>
              <a:rPr kumimoji="0" lang="en-IN" altLang="en-US" sz="3600" b="1"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Mudliar</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22107027</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6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endParaRPr kumimoji="0" lang="en-IN" altLang="en-US" sz="3600" b="0"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Project Guide</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a:p>
            <a:pPr marL="0" marR="0" lvl="0" indent="0" algn="ctr"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Ms. Ujwala </a:t>
            </a:r>
            <a:r>
              <a:rPr kumimoji="0" lang="en-IN" altLang="en-US" sz="3600" b="1" i="0" u="none" strike="noStrike" kern="1200" cap="none" spc="0" normalizeH="0" baseline="0" noProof="0" dirty="0" err="1">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Pagare</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rPr>
              <a:t>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Times New Roman" panose="02020603050405020304" pitchFamily="16" charset="0"/>
            </a:endParaRPr>
          </a:p>
        </p:txBody>
      </p:sp>
      <p:cxnSp>
        <p:nvCxnSpPr>
          <p:cNvPr id="3" name="Straight Connector 2"/>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6148" name="Picture 3"/>
          <p:cNvPicPr>
            <a:picLocks noChangeAspect="1"/>
          </p:cNvPicPr>
          <p:nvPr/>
        </p:nvPicPr>
        <p:blipFill>
          <a:blip r:embed="rId1"/>
          <a:stretch>
            <a:fillRect/>
          </a:stretch>
        </p:blipFill>
        <p:spPr>
          <a:xfrm>
            <a:off x="1079500" y="146050"/>
            <a:ext cx="7686675" cy="1571625"/>
          </a:xfrm>
          <a:prstGeom prst="rect">
            <a:avLst/>
          </a:prstGeom>
          <a:noFill/>
          <a:ln w="9525">
            <a:noFill/>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
          <p:cNvSpPr/>
          <p:nvPr/>
        </p:nvSpPr>
        <p:spPr>
          <a:xfrm>
            <a:off x="504825" y="144463"/>
            <a:ext cx="9070975" cy="1057275"/>
          </a:xfrm>
          <a:prstGeom prst="rect">
            <a:avLst/>
          </a:prstGeom>
          <a:noFill/>
          <a:ln w="9525">
            <a:noFill/>
          </a:ln>
        </p:spPr>
        <p:txBody>
          <a:bodyPr lIns="0" tIns="31680" rIns="0" bIns="0" anchor="ctr" anchorCtr="0"/>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Outline</a:t>
            </a:r>
            <a:endParaRPr lang="en-IN" altLang="en-US" sz="3600" b="1" dirty="0">
              <a:solidFill>
                <a:srgbClr val="000000"/>
              </a:solidFill>
              <a:latin typeface="Times New Roman" panose="02020603050405020304" pitchFamily="16" charset="0"/>
              <a:ea typeface="DejaVu Sans" charset="0"/>
            </a:endParaRPr>
          </a:p>
        </p:txBody>
      </p:sp>
      <p:sp>
        <p:nvSpPr>
          <p:cNvPr id="8195" name="Rectangle 2"/>
          <p:cNvSpPr/>
          <p:nvPr/>
        </p:nvSpPr>
        <p:spPr>
          <a:xfrm>
            <a:off x="504825" y="1236663"/>
            <a:ext cx="9323388" cy="5578475"/>
          </a:xfrm>
          <a:prstGeom prst="rect">
            <a:avLst/>
          </a:prstGeom>
          <a:noFill/>
          <a:ln w="9525">
            <a:noFill/>
          </a:ln>
        </p:spPr>
        <p:txBody>
          <a:bodyPr lIns="0" tIns="21240" rIns="0" bIns="0"/>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imes New Roman" panose="02020603050405020304" pitchFamily="16" charset="0"/>
                <a:cs typeface="Times New Roman" panose="02020603050405020304" pitchFamily="16" charset="0"/>
              </a:rPr>
              <a:t>Introduction</a:t>
            </a:r>
            <a:endParaRPr lang="en-IN"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imes New Roman" panose="02020603050405020304" pitchFamily="16" charset="0"/>
                <a:cs typeface="Times New Roman" panose="02020603050405020304" pitchFamily="16" charset="0"/>
              </a:rPr>
              <a:t>Literature Survey of the existing systems</a:t>
            </a:r>
            <a:endParaRPr lang="en-IN"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imes New Roman" panose="02020603050405020304" pitchFamily="16" charset="0"/>
                <a:cs typeface="Times New Roman" panose="02020603050405020304" pitchFamily="16" charset="0"/>
              </a:rPr>
              <a:t>Limitations of the existing systems</a:t>
            </a:r>
            <a:endParaRPr lang="en-IN"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imes New Roman" panose="02020603050405020304" pitchFamily="16" charset="0"/>
                <a:cs typeface="Times New Roman" panose="02020603050405020304" pitchFamily="16" charset="0"/>
              </a:rPr>
              <a:t>Problem statement </a:t>
            </a:r>
            <a:endParaRPr lang="en-IN"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imes New Roman" panose="02020603050405020304" pitchFamily="16" charset="0"/>
                <a:cs typeface="Times New Roman" panose="02020603050405020304" pitchFamily="16" charset="0"/>
              </a:rPr>
              <a:t>System Design</a:t>
            </a:r>
            <a:endParaRPr lang="en-US"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imes New Roman" panose="02020603050405020304" pitchFamily="16" charset="0"/>
                <a:cs typeface="Times New Roman" panose="02020603050405020304" pitchFamily="16" charset="0"/>
              </a:rPr>
              <a:t>Technologies and methodologies</a:t>
            </a:r>
            <a:endParaRPr lang="en-US"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imes New Roman" panose="02020603050405020304" pitchFamily="16" charset="0"/>
                <a:cs typeface="Times New Roman" panose="02020603050405020304" pitchFamily="16" charset="0"/>
              </a:rPr>
              <a:t>Implementation</a:t>
            </a:r>
            <a:endParaRPr lang="en-US"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2400" dirty="0">
                <a:latin typeface="Times New Roman" panose="02020603050405020304" pitchFamily="16" charset="0"/>
                <a:cs typeface="Times New Roman" panose="02020603050405020304" pitchFamily="16" charset="0"/>
              </a:rPr>
              <a:t>Conclusion </a:t>
            </a:r>
            <a:endParaRPr lang="en-US" altLang="en-US" sz="2400" dirty="0">
              <a:latin typeface="Times New Roman" panose="02020603050405020304" pitchFamily="16" charset="0"/>
              <a:cs typeface="Times New Roman" panose="02020603050405020304" pitchFamily="16" charset="0"/>
            </a:endParaRPr>
          </a:p>
          <a:p>
            <a:pPr marL="430530" indent="-322580" algn="just" defTabSz="457200">
              <a:lnSpc>
                <a:spcPct val="150000"/>
              </a:lnSpc>
              <a:buFont typeface="Wingdings" panose="05000000000000000000" pitchFamily="2" charset="2"/>
              <a:buChar char="§"/>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2400" dirty="0">
                <a:latin typeface="Times New Roman" panose="02020603050405020304" pitchFamily="16" charset="0"/>
                <a:cs typeface="Times New Roman" panose="02020603050405020304" pitchFamily="16" charset="0"/>
              </a:rPr>
              <a:t>References</a:t>
            </a:r>
            <a:endParaRPr lang="en-IN" altLang="en-US" sz="2400" dirty="0">
              <a:solidFill>
                <a:srgbClr val="000000"/>
              </a:solidFill>
              <a:latin typeface="Times New Roman" panose="02020603050405020304" pitchFamily="16" charset="0"/>
              <a:ea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Introduction</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0243" name="Content Placeholder 2"/>
          <p:cNvSpPr txBox="1">
            <a:spLocks noChangeArrowheads="1"/>
          </p:cNvSpPr>
          <p:nvPr/>
        </p:nvSpPr>
        <p:spPr bwMode="auto">
          <a:xfrm>
            <a:off x="144463" y="1403350"/>
            <a:ext cx="9520238" cy="5695950"/>
          </a:xfrm>
          <a:prstGeom prst="rect">
            <a:avLst/>
          </a:prstGeom>
          <a:noFill/>
          <a:ln>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571500" lvl="0" indent="-342900" algn="just" defTabSz="457200">
              <a:lnSpc>
                <a:spcPct val="85000"/>
              </a:lnSpc>
              <a:spcBef>
                <a:spcPts val="1000"/>
              </a:spcBef>
              <a:buClrTx/>
              <a:buFont typeface="Arial" panose="020B0604020202020204" pitchFamily="34" charset="0"/>
              <a:buChar char="•"/>
            </a:pPr>
            <a:r>
              <a:rPr lang="en-GB" altLang="en-US" sz="2400" dirty="0">
                <a:solidFill>
                  <a:srgbClr val="000000"/>
                </a:solidFill>
                <a:latin typeface="Times New Roman" panose="02020603050405020304" pitchFamily="16" charset="0"/>
                <a:cs typeface="Times New Roman" panose="02020603050405020304" pitchFamily="16" charset="0"/>
              </a:rPr>
              <a:t>Stock price prediction is a significant challenge in machine learning and data science, focused on forecasting stock prices based on historical data and various market indicators. Accurate predictions are crucial for investors, traders, and financial analysts to make informed decisions and optimize investment strategies. </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571500" lvl="0" indent="-342900" algn="just" defTabSz="457200">
              <a:lnSpc>
                <a:spcPct val="85000"/>
              </a:lnSpc>
              <a:spcBef>
                <a:spcPts val="1000"/>
              </a:spcBef>
              <a:buClrTx/>
              <a:buNone/>
            </a:pPr>
            <a:endParaRPr lang="en-GB" altLang="en-US" sz="2400" dirty="0">
              <a:solidFill>
                <a:srgbClr val="000000"/>
              </a:solidFill>
              <a:latin typeface="Times New Roman" panose="02020603050405020304" pitchFamily="16" charset="0"/>
              <a:cs typeface="Times New Roman" panose="02020603050405020304" pitchFamily="16" charset="0"/>
            </a:endParaRPr>
          </a:p>
          <a:p>
            <a:pPr marL="571500" lvl="0" indent="-342900" algn="just" defTabSz="457200">
              <a:lnSpc>
                <a:spcPct val="85000"/>
              </a:lnSpc>
              <a:spcBef>
                <a:spcPts val="1000"/>
              </a:spcBef>
              <a:buClrTx/>
              <a:buFont typeface="Arial" panose="020B0604020202020204" pitchFamily="34" charset="0"/>
              <a:buChar char="•"/>
            </a:pPr>
            <a:r>
              <a:rPr lang="en-GB" altLang="en-US" sz="2400" dirty="0">
                <a:solidFill>
                  <a:srgbClr val="000000"/>
                </a:solidFill>
                <a:latin typeface="Times New Roman" panose="02020603050405020304" pitchFamily="16" charset="0"/>
                <a:cs typeface="Times New Roman" panose="02020603050405020304" pitchFamily="16" charset="0"/>
              </a:rPr>
              <a:t>With </a:t>
            </a:r>
            <a:r>
              <a:rPr lang="en-GB" altLang="en-US" sz="2400" dirty="0">
                <a:solidFill>
                  <a:srgbClr val="000000"/>
                </a:solidFill>
                <a:latin typeface="Times New Roman" panose="02020603050405020304" pitchFamily="16" charset="0"/>
                <a:cs typeface="Times New Roman" panose="02020603050405020304" pitchFamily="16" charset="0"/>
              </a:rPr>
              <a:t>advancements in machine learning and data analytics, we can leverage historical stock data to uncover trends and make informed forecasts. This project aims to bridge the gap between financial expertise and data-driven decision-making by developing a predictive model that assists investors in minimizing risks and maximizing returns. Ultimately, it seeks to enhance market understanding and improve investment strategies.</a:t>
            </a:r>
            <a:endParaRPr lang="en-US" altLang="en-US" sz="2400" dirty="0">
              <a:solidFill>
                <a:srgbClr val="000000"/>
              </a:solidFill>
              <a:latin typeface="Times New Roman" panose="02020603050405020304" pitchFamily="16" charset="0"/>
              <a:ea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
          <p:cNvSpPr/>
          <p:nvPr/>
        </p:nvSpPr>
        <p:spPr>
          <a:xfrm>
            <a:off x="503238" y="301625"/>
            <a:ext cx="9070975" cy="1262063"/>
          </a:xfrm>
          <a:prstGeom prst="rect">
            <a:avLst/>
          </a:prstGeom>
          <a:noFill/>
          <a:ln w="9525">
            <a:noFill/>
          </a:ln>
        </p:spPr>
        <p:txBody>
          <a:bodyPr lIns="0" tIns="31680" rIns="0" bIns="0" anchor="ctr" anchorCtr="0"/>
          <a:p>
            <a:pPr algn="just" defTabSz="457200">
              <a:lnSpc>
                <a:spcPct val="85000"/>
              </a:lnSpc>
              <a:spcBef>
                <a:spcPts val="1000"/>
              </a:spcBef>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US" altLang="en-US" sz="36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Motivation:-</a:t>
            </a:r>
            <a:endParaRPr lang="en-US" altLang="en-US" sz="3600" b="1" dirty="0">
              <a:solidFill>
                <a:srgbClr val="000000"/>
              </a:solidFill>
              <a:latin typeface="Times New Roman" panose="02020603050405020304" pitchFamily="16" charset="0"/>
              <a:ea typeface="Times New Roman" panose="02020603050405020304" pitchFamily="16" charset="0"/>
              <a:sym typeface="Times New Roman" panose="02020603050405020304" pitchFamily="16" charset="0"/>
            </a:endParaRPr>
          </a:p>
        </p:txBody>
      </p:sp>
      <p:sp>
        <p:nvSpPr>
          <p:cNvPr id="12291" name="Content Placeholder 2"/>
          <p:cNvSpPr txBox="1"/>
          <p:nvPr/>
        </p:nvSpPr>
        <p:spPr>
          <a:xfrm>
            <a:off x="144463" y="1403350"/>
            <a:ext cx="9520237" cy="5695950"/>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685800" lvl="0" indent="-457200" algn="just" defTabSz="457200">
              <a:lnSpc>
                <a:spcPct val="85000"/>
              </a:lnSpc>
              <a:spcBef>
                <a:spcPts val="1000"/>
              </a:spcBef>
              <a:buClrTx/>
              <a:buFont typeface="Arial" panose="020B0604020202020204" pitchFamily="34" charset="0"/>
              <a:buChar char="•"/>
            </a:pPr>
            <a:r>
              <a:rPr lang="en-GB" altLang="en-US" sz="24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Stock Market Volatility</a:t>
            </a:r>
            <a:r>
              <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 – Stock markets are highly volatile, making accurate price prediction crucial for investors and traders.</a:t>
            </a: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Trebuchet MS" panose="020B0603020202020204" pitchFamily="34" charset="0"/>
              <a:buAutoNum type="arabicPeriod"/>
            </a:pP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Arial" panose="020B0604020202020204" pitchFamily="34" charset="0"/>
              <a:buChar char="•"/>
            </a:pPr>
            <a:r>
              <a:rPr lang="en-GB" altLang="en-US" sz="24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Limitations of Traditional Methods</a:t>
            </a:r>
            <a:r>
              <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 – Conventional analysis often fails to capture complex financial patterns, leading to inconsistent predictions.</a:t>
            </a: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Trebuchet MS" panose="020B0603020202020204" pitchFamily="34" charset="0"/>
              <a:buAutoNum type="arabicPeriod"/>
            </a:pP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Arial" panose="020B0604020202020204" pitchFamily="34" charset="0"/>
              <a:buChar char="•"/>
            </a:pPr>
            <a:r>
              <a:rPr lang="en-GB" altLang="en-US" sz="24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Advancements in Machine Learning</a:t>
            </a:r>
            <a:r>
              <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 – Machine learning and data analytics enable us to analyze historical stock data to identify trends and patterns. Risk Minimization &amp; Profit Maximization – A predictive model can help investors reduce risks and optimize returns.</a:t>
            </a: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Trebuchet MS" panose="020B0603020202020204" pitchFamily="34" charset="0"/>
              <a:buAutoNum type="arabicPeriod"/>
            </a:pPr>
            <a:endPar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685800" lvl="0" indent="-457200" algn="just" defTabSz="457200">
              <a:lnSpc>
                <a:spcPct val="85000"/>
              </a:lnSpc>
              <a:spcBef>
                <a:spcPts val="1000"/>
              </a:spcBef>
              <a:buClrTx/>
              <a:buFont typeface="Arial" panose="020B0604020202020204" pitchFamily="34" charset="0"/>
              <a:buChar char="•"/>
            </a:pPr>
            <a:r>
              <a:rPr lang="en-GB" altLang="en-US" sz="24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Enhancing Market Understanding</a:t>
            </a:r>
            <a:r>
              <a:rPr lang="en-GB" altLang="en-US" sz="2400"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 – The project contributes to better investment strategies by improving market insights.</a:t>
            </a:r>
            <a:endParaRPr lang="en-US" altLang="en-US" sz="2400" dirty="0">
              <a:solidFill>
                <a:srgbClr val="000000"/>
              </a:solidFill>
              <a:latin typeface="Times New Roman" panose="02020603050405020304" pitchFamily="16" charset="0"/>
              <a:ea typeface="Times New Roman" panose="02020603050405020304" pitchFamily="16" charset="0"/>
              <a:sym typeface="Times New Roman" panose="02020603050405020304" pitchFamily="16" charset="0"/>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252413" y="107950"/>
            <a:ext cx="9575800" cy="6804025"/>
          </a:xfrm>
          <a:prstGeom prst="rect">
            <a:avLst/>
          </a:prstGeom>
          <a:noFill/>
        </p:spPr>
        <p:txBody>
          <a:bodyPr>
            <a:spAutoFit/>
          </a:bodyPr>
          <a:p>
            <a:pPr marL="228600" algn="just">
              <a:lnSpc>
                <a:spcPct val="95000"/>
              </a:lnSpc>
              <a:spcBef>
                <a:spcPts val="1000"/>
              </a:spcBef>
              <a:buNone/>
            </a:pPr>
            <a:r>
              <a:rPr sz="36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rPr>
              <a:t>Objectives:-</a:t>
            </a:r>
            <a:endParaRPr sz="3600" b="1" dirty="0">
              <a:solidFill>
                <a:srgbClr val="000000"/>
              </a:solidFill>
              <a:latin typeface="Times New Roman" panose="02020603050405020304" pitchFamily="16" charset="0"/>
              <a:cs typeface="Times New Roman" panose="02020603050405020304" pitchFamily="16" charset="0"/>
              <a:sym typeface="Times New Roman" panose="02020603050405020304" pitchFamily="16" charset="0"/>
            </a:endParaRPr>
          </a:p>
          <a:p>
            <a:pPr marL="228600">
              <a:lnSpc>
                <a:spcPct val="150000"/>
              </a:lnSpc>
              <a:buFont typeface="Arial" panose="020B0604020202020204" pitchFamily="34" charset="0"/>
              <a:buChar char="•"/>
            </a:pPr>
            <a:endParaRPr sz="2400" b="1" dirty="0">
              <a:latin typeface="Times New Roman" panose="02020603050405020304" pitchFamily="16" charset="0"/>
              <a:cs typeface="Times New Roman" panose="02020603050405020304" pitchFamily="16" charset="0"/>
            </a:endParaRPr>
          </a:p>
          <a:p>
            <a:pPr marL="228600">
              <a:lnSpc>
                <a:spcPct val="150000"/>
              </a:lnSpc>
              <a:buFont typeface="Arial" panose="020B0604020202020204" pitchFamily="34" charset="0"/>
              <a:buChar char="•"/>
            </a:pPr>
            <a:r>
              <a:rPr sz="2400" b="1" dirty="0">
                <a:latin typeface="Times New Roman" panose="02020603050405020304" pitchFamily="16" charset="0"/>
                <a:cs typeface="Times New Roman" panose="02020603050405020304" pitchFamily="16" charset="0"/>
              </a:rPr>
              <a:t>Market Trend Insights:</a:t>
            </a:r>
            <a:r>
              <a:rPr lang="en-IN" altLang="x-none" sz="2400" b="1" dirty="0">
                <a:latin typeface="Times New Roman" panose="02020603050405020304" pitchFamily="16" charset="0"/>
                <a:cs typeface="Times New Roman" panose="02020603050405020304" pitchFamily="16" charset="0"/>
              </a:rPr>
              <a:t> </a:t>
            </a:r>
            <a:r>
              <a:rPr sz="2400" dirty="0">
                <a:latin typeface="Times New Roman" panose="02020603050405020304" pitchFamily="16" charset="0"/>
                <a:cs typeface="Times New Roman" panose="02020603050405020304" pitchFamily="16" charset="0"/>
              </a:rPr>
              <a:t>In addition to price prediction, the system analyzes historical stock data to provide insights into market trends</a:t>
            </a:r>
            <a:endParaRPr sz="2400" dirty="0">
              <a:latin typeface="Times New Roman" panose="02020603050405020304" pitchFamily="16" charset="0"/>
              <a:cs typeface="Times New Roman" panose="02020603050405020304" pitchFamily="16" charset="0"/>
            </a:endParaRPr>
          </a:p>
          <a:p>
            <a:pPr marL="228600">
              <a:lnSpc>
                <a:spcPct val="150000"/>
              </a:lnSpc>
              <a:buFont typeface="Arial" panose="020B0604020202020204" pitchFamily="34" charset="0"/>
              <a:buChar char="•"/>
            </a:pPr>
            <a:r>
              <a:rPr sz="2400" b="1" dirty="0">
                <a:latin typeface="Times New Roman" panose="02020603050405020304" pitchFamily="16" charset="0"/>
                <a:cs typeface="Times New Roman" panose="02020603050405020304" pitchFamily="16" charset="0"/>
              </a:rPr>
              <a:t>Comparative Analysis Using Different ML Algorithms:</a:t>
            </a:r>
            <a:r>
              <a:rPr lang="en-IN" altLang="x-none" sz="2400" b="1" dirty="0">
                <a:latin typeface="Times New Roman" panose="02020603050405020304" pitchFamily="16" charset="0"/>
                <a:cs typeface="Times New Roman" panose="02020603050405020304" pitchFamily="16" charset="0"/>
              </a:rPr>
              <a:t> </a:t>
            </a:r>
            <a:r>
              <a:rPr sz="2400" dirty="0">
                <a:latin typeface="Times New Roman" panose="02020603050405020304" pitchFamily="16" charset="0"/>
                <a:cs typeface="Times New Roman" panose="02020603050405020304" pitchFamily="16" charset="0"/>
              </a:rPr>
              <a:t>The system compares LSTM with traditional models like ARIMA, RNN.</a:t>
            </a:r>
            <a:endParaRPr lang="en-IN" altLang="x-none" sz="2400" dirty="0">
              <a:latin typeface="Times New Roman" panose="02020603050405020304" pitchFamily="16" charset="0"/>
              <a:cs typeface="Times New Roman" panose="02020603050405020304" pitchFamily="16" charset="0"/>
            </a:endParaRPr>
          </a:p>
          <a:p>
            <a:pPr marL="228600">
              <a:lnSpc>
                <a:spcPct val="150000"/>
              </a:lnSpc>
              <a:buFont typeface="Arial" panose="020B0604020202020204" pitchFamily="34" charset="0"/>
              <a:buChar char="•"/>
            </a:pPr>
            <a:r>
              <a:rPr sz="2400" b="1" dirty="0">
                <a:latin typeface="Times New Roman" panose="02020603050405020304" pitchFamily="16" charset="0"/>
                <a:cs typeface="Times New Roman" panose="02020603050405020304" pitchFamily="16" charset="0"/>
              </a:rPr>
              <a:t>Investment Recommendations:</a:t>
            </a:r>
            <a:r>
              <a:rPr lang="en-IN" altLang="x-none" sz="2400" b="1" dirty="0">
                <a:latin typeface="Times New Roman" panose="02020603050405020304" pitchFamily="16" charset="0"/>
                <a:cs typeface="Times New Roman" panose="02020603050405020304" pitchFamily="16" charset="0"/>
              </a:rPr>
              <a:t> </a:t>
            </a:r>
            <a:r>
              <a:rPr sz="2400" dirty="0">
                <a:latin typeface="Times New Roman" panose="02020603050405020304" pitchFamily="16" charset="0"/>
                <a:cs typeface="Times New Roman" panose="02020603050405020304" pitchFamily="16" charset="0"/>
              </a:rPr>
              <a:t>It helps users decide whether to buy, hold, or sell stocks based on data-driven insights, maximizing returns and minimizing risks.</a:t>
            </a:r>
            <a:endParaRPr lang="en-IN" altLang="x-none" sz="2400" dirty="0">
              <a:latin typeface="Times New Roman" panose="02020603050405020304" pitchFamily="16" charset="0"/>
              <a:cs typeface="Times New Roman" panose="02020603050405020304" pitchFamily="16" charset="0"/>
            </a:endParaRPr>
          </a:p>
          <a:p>
            <a:pPr marL="228600">
              <a:lnSpc>
                <a:spcPct val="150000"/>
              </a:lnSpc>
              <a:buFont typeface="Arial" panose="020B0604020202020204" pitchFamily="34" charset="0"/>
              <a:buChar char="•"/>
            </a:pPr>
            <a:r>
              <a:rPr sz="2400" b="1" dirty="0">
                <a:latin typeface="Times New Roman" panose="02020603050405020304" pitchFamily="16" charset="0"/>
                <a:cs typeface="Times New Roman" panose="02020603050405020304" pitchFamily="16" charset="0"/>
              </a:rPr>
              <a:t>Interactive Interface (ChatBot):</a:t>
            </a:r>
            <a:r>
              <a:rPr lang="en-IN" altLang="x-none" sz="2400" b="1" dirty="0">
                <a:latin typeface="Times New Roman" panose="02020603050405020304" pitchFamily="16" charset="0"/>
                <a:cs typeface="Times New Roman" panose="02020603050405020304" pitchFamily="16" charset="0"/>
              </a:rPr>
              <a:t> </a:t>
            </a:r>
            <a:r>
              <a:rPr sz="2400" dirty="0">
                <a:latin typeface="Times New Roman" panose="02020603050405020304" pitchFamily="16" charset="0"/>
                <a:cs typeface="Times New Roman" panose="02020603050405020304" pitchFamily="16" charset="0"/>
              </a:rPr>
              <a:t>The chatbot provides natural language responses, making stock analysis easy and accessible for all users.</a:t>
            </a:r>
            <a:endParaRPr lang="en-IN" altLang="x-none" sz="2400" dirty="0">
              <a:latin typeface="Times New Roman" panose="02020603050405020304" pitchFamily="16" charset="0"/>
              <a:cs typeface="Times New Roman" panose="02020603050405020304" pitchFamily="16" charset="0"/>
            </a:endParaRPr>
          </a:p>
          <a:p>
            <a:pPr marL="228600">
              <a:buNone/>
            </a:pPr>
            <a:br>
              <a:rPr dirty="0">
                <a:latin typeface="Times New Roman" panose="02020603050405020304" pitchFamily="16" charset="0"/>
                <a:cs typeface="Times New Roman" panose="02020603050405020304" pitchFamily="16" charset="0"/>
              </a:rPr>
            </a:br>
            <a:endParaRPr sz="2400" dirty="0">
              <a:solidFill>
                <a:srgbClr val="000000"/>
              </a:solidFill>
              <a:latin typeface="Times New Roman" panose="02020603050405020304" pitchFamily="16" charset="0"/>
              <a:ea typeface="Times New Roman" panose="02020603050405020304" pitchFamily="16" charset="0"/>
              <a:sym typeface="Times New Roman" panose="02020603050405020304" pitchFamily="16"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
          <p:cNvSpPr>
            <a:spLocks noChangeArrowheads="1"/>
          </p:cNvSpPr>
          <p:nvPr/>
        </p:nvSpPr>
        <p:spPr bwMode="auto">
          <a:xfrm>
            <a:off x="431800" y="-355600"/>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Literature Survey of the existing system</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5363" name="Rectangle 2"/>
          <p:cNvSpPr/>
          <p:nvPr/>
        </p:nvSpPr>
        <p:spPr>
          <a:xfrm>
            <a:off x="431800" y="1284288"/>
            <a:ext cx="9504363" cy="6167437"/>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latin typeface="Times New Roman" panose="02020603050405020304" pitchFamily="16" charset="0"/>
              <a:ea typeface="Times New Roman" panose="02020603050405020304" pitchFamily="16" charset="0"/>
            </a:endParaRPr>
          </a:p>
        </p:txBody>
      </p:sp>
      <p:graphicFrame>
        <p:nvGraphicFramePr>
          <p:cNvPr id="4" name="Table 3"/>
          <p:cNvGraphicFramePr>
            <a:graphicFrameLocks noGrp="1"/>
          </p:cNvGraphicFramePr>
          <p:nvPr/>
        </p:nvGraphicFramePr>
        <p:xfrm>
          <a:off x="0" y="906463"/>
          <a:ext cx="10085388" cy="6921500"/>
        </p:xfrm>
        <a:graphic>
          <a:graphicData uri="http://schemas.openxmlformats.org/drawingml/2006/table">
            <a:tbl>
              <a:tblPr/>
              <a:tblGrid>
                <a:gridCol w="576050"/>
                <a:gridCol w="1152100"/>
                <a:gridCol w="1296112"/>
                <a:gridCol w="792068"/>
                <a:gridCol w="2016174"/>
                <a:gridCol w="1800156"/>
                <a:gridCol w="2452728"/>
              </a:tblGrid>
              <a:tr h="989074">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22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SR. NO</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700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TITLE</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AUTHOR</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YEAR</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OUTCOMES</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842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METHODOLOGY</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10033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RESULT</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r>
              <a:tr h="5932426">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1.</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68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Stock Market Analysis and Prediction Using LSTM: A Case Study on Technology Stocks</a:t>
                      </a: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[1]</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1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IN" sz="2400" dirty="0" err="1">
                          <a:latin typeface="Times New Roman" panose="02020603050405020304" pitchFamily="16" charset="0"/>
                          <a:cs typeface="Times New Roman" panose="02020603050405020304" pitchFamily="16" charset="0"/>
                        </a:rPr>
                        <a:t>Zhenglin</a:t>
                      </a:r>
                      <a:r>
                        <a:rPr lang="en-IN" sz="2400" dirty="0">
                          <a:latin typeface="Times New Roman" panose="02020603050405020304" pitchFamily="16" charset="0"/>
                          <a:cs typeface="Times New Roman" panose="02020603050405020304" pitchFamily="16" charset="0"/>
                        </a:rPr>
                        <a:t> Li, </a:t>
                      </a:r>
                      <a:r>
                        <a:rPr lang="en-IN" sz="2400" dirty="0" err="1">
                          <a:latin typeface="Times New Roman" panose="02020603050405020304" pitchFamily="16" charset="0"/>
                          <a:cs typeface="Times New Roman" panose="02020603050405020304" pitchFamily="16" charset="0"/>
                        </a:rPr>
                        <a:t>Yuhong</a:t>
                      </a:r>
                      <a:r>
                        <a:rPr lang="en-IN" sz="2400" dirty="0">
                          <a:latin typeface="Times New Roman" panose="02020603050405020304" pitchFamily="16" charset="0"/>
                          <a:cs typeface="Times New Roman" panose="02020603050405020304" pitchFamily="16" charset="0"/>
                        </a:rPr>
                        <a:t> Mo</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12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50"/>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2023</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356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This research explores the application of LSTM networks for </a:t>
                      </a:r>
                      <a:r>
                        <a:rPr lang="en-GB" sz="2400" dirty="0" err="1">
                          <a:latin typeface="Times New Roman" panose="02020603050405020304" pitchFamily="16" charset="0"/>
                          <a:cs typeface="Times New Roman" panose="02020603050405020304" pitchFamily="16" charset="0"/>
                        </a:rPr>
                        <a:t>analyzing</a:t>
                      </a:r>
                      <a:r>
                        <a:rPr lang="en-GB" sz="2400" dirty="0">
                          <a:latin typeface="Times New Roman" panose="02020603050405020304" pitchFamily="16" charset="0"/>
                          <a:cs typeface="Times New Roman" panose="02020603050405020304" pitchFamily="16" charset="0"/>
                        </a:rPr>
                        <a:t> and predicting stock prices of major technology companies, utilizing historical data from Yahoo Finance.</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016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842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Machine learning algorithms were applied to a housing dataset, with cross-validation and accuracy metrics used for evaluation</a:t>
                      </a:r>
                      <a:r>
                        <a:rPr kumimoji="0" lang="en-GB"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rPr>
                        <a:t>.</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100330"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Random Forest and Neural Networks achieved higher prediction accuracy than linear regression models, suggesting that non-linear relationships and complex interactions between variables were better captured.</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3348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r>
            </a:tbl>
          </a:graphicData>
        </a:graphic>
      </p:graphicFrame>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431800" y="-355600"/>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Literature Survey of the existing system</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7411" name="Rectangle 2"/>
          <p:cNvSpPr/>
          <p:nvPr/>
        </p:nvSpPr>
        <p:spPr>
          <a:xfrm>
            <a:off x="431800" y="1284288"/>
            <a:ext cx="9504363" cy="6167437"/>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latin typeface="Times New Roman" panose="02020603050405020304" pitchFamily="16" charset="0"/>
              <a:ea typeface="Times New Roman" panose="02020603050405020304" pitchFamily="16" charset="0"/>
            </a:endParaRPr>
          </a:p>
        </p:txBody>
      </p:sp>
      <p:graphicFrame>
        <p:nvGraphicFramePr>
          <p:cNvPr id="4" name="Table 3"/>
          <p:cNvGraphicFramePr>
            <a:graphicFrameLocks noGrp="1"/>
          </p:cNvGraphicFramePr>
          <p:nvPr/>
        </p:nvGraphicFramePr>
        <p:xfrm>
          <a:off x="4763" y="906463"/>
          <a:ext cx="10220325" cy="6921500"/>
        </p:xfrm>
        <a:graphic>
          <a:graphicData uri="http://schemas.openxmlformats.org/drawingml/2006/table">
            <a:tbl>
              <a:tblPr/>
              <a:tblGrid>
                <a:gridCol w="571064"/>
                <a:gridCol w="1512198"/>
                <a:gridCol w="1344956"/>
                <a:gridCol w="936122"/>
                <a:gridCol w="1728226"/>
                <a:gridCol w="2088273"/>
                <a:gridCol w="2039486"/>
              </a:tblGrid>
              <a:tr h="989074">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22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SR. NO</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700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TITLE</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AUTHOR</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YEAR</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OUTCOMES</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842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METHODOLOGY</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10033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rPr>
                        <a:t>RESULT</a:t>
                      </a:r>
                      <a:endParaRPr kumimoji="0" lang="en-US" altLang="en-US" sz="1800" b="1" i="0" u="none" strike="noStrike" cap="none" normalizeH="0" baseline="0" dirty="0">
                        <a:ln>
                          <a:noFill/>
                        </a:ln>
                        <a:solidFill>
                          <a:srgbClr val="FFFFFF"/>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r>
              <a:tr h="5932426">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2.</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68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Forecasting Stock Prices Changes Using Long-Short Term Memory</a:t>
                      </a: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[2]</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1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IN" sz="2400" dirty="0">
                          <a:latin typeface="Times New Roman" panose="02020603050405020304" pitchFamily="16" charset="0"/>
                          <a:cs typeface="Times New Roman" panose="02020603050405020304" pitchFamily="16" charset="0"/>
                        </a:rPr>
                        <a:t>Gao et al.</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12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50"/>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2023</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356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Demonstrated enhanced prediction accuracy by combining LSTM with Symbolic Genetic Programming (SGP).</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016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842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Historical stock price data and Bollinger Bands were combined as inputs to LSTM models, with performance validated using RMSE and R-squared metrics. </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100330"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The approach demonstrated effectiveness in predicting trends and reducing forecasting errors.</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3348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431800" y="-355600"/>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 Literature Survey of the existing system</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19459" name="Rectangle 2"/>
          <p:cNvSpPr/>
          <p:nvPr/>
        </p:nvSpPr>
        <p:spPr>
          <a:xfrm>
            <a:off x="431800" y="1284288"/>
            <a:ext cx="9504363" cy="6167437"/>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latin typeface="Times New Roman" panose="02020603050405020304" pitchFamily="16" charset="0"/>
              <a:ea typeface="Times New Roman" panose="02020603050405020304" pitchFamily="16" charset="0"/>
            </a:endParaRPr>
          </a:p>
        </p:txBody>
      </p:sp>
      <p:graphicFrame>
        <p:nvGraphicFramePr>
          <p:cNvPr id="3" name="Table 2"/>
          <p:cNvGraphicFramePr>
            <a:graphicFrameLocks noGrp="1"/>
          </p:cNvGraphicFramePr>
          <p:nvPr/>
        </p:nvGraphicFramePr>
        <p:xfrm>
          <a:off x="0" y="611188"/>
          <a:ext cx="10080625" cy="6921500"/>
        </p:xfrm>
        <a:graphic>
          <a:graphicData uri="http://schemas.openxmlformats.org/drawingml/2006/table">
            <a:tbl>
              <a:tblPr/>
              <a:tblGrid>
                <a:gridCol w="431800"/>
                <a:gridCol w="1512168"/>
                <a:gridCol w="1080120"/>
                <a:gridCol w="720080"/>
                <a:gridCol w="2016224"/>
                <a:gridCol w="2448272"/>
                <a:gridCol w="1871962"/>
              </a:tblGrid>
              <a:tr h="989074">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22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SR. NO</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2700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TITLE</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AUTHOR</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YEAR</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OUTCOMES</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8425"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METHODOLOGY</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100330" marR="0" lvl="0" indent="0" algn="l" defTabSz="457200" rtl="0" eaLnBrk="1" fontAlgn="base" latinLnBrk="0" hangingPunct="0">
                        <a:lnSpc>
                          <a:spcPct val="97000"/>
                        </a:lnSpc>
                        <a:spcBef>
                          <a:spcPts val="36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rPr>
                        <a:t>RESULT</a:t>
                      </a:r>
                      <a:endParaRPr kumimoji="0" lang="en-US" altLang="en-US" sz="1600" b="1" i="0" u="none" strike="noStrike" cap="none" normalizeH="0" baseline="0" dirty="0">
                        <a:ln>
                          <a:noFill/>
                        </a:ln>
                        <a:solidFill>
                          <a:srgbClr val="FFFFFF"/>
                        </a:solidFill>
                        <a:effectLst/>
                        <a:latin typeface="Trebuchet MS" panose="020B0603020202020204" pitchFamily="34" charset="0"/>
                        <a:ea typeface="Microsoft YaHei" panose="020B0503020204020204" charset="-122"/>
                        <a:cs typeface="Segoe UI" panose="020B0502040204020203" charset="0"/>
                      </a:endParaRPr>
                    </a:p>
                  </a:txBody>
                  <a:tcPr marL="0" marR="0" marT="450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18720" cap="flat" cmpd="sng" algn="ctr">
                      <a:solidFill>
                        <a:srgbClr val="FFFFFF"/>
                      </a:solidFill>
                      <a:prstDash val="solid"/>
                      <a:round/>
                      <a:headEnd type="none" w="med" len="med"/>
                      <a:tailEnd type="none" w="med" len="med"/>
                    </a:lnT>
                    <a:lnB w="56880" cap="flat" cmpd="sng" algn="ctr">
                      <a:solidFill>
                        <a:srgbClr val="FFFFFF"/>
                      </a:solidFill>
                      <a:prstDash val="solid"/>
                      <a:round/>
                      <a:headEnd type="none" w="med" len="med"/>
                      <a:tailEnd type="none" w="med" len="med"/>
                    </a:lnB>
                    <a:lnTlToBr>
                      <a:noFill/>
                    </a:lnTlToBr>
                    <a:lnBlToTr>
                      <a:noFill/>
                    </a:lnBlToTr>
                    <a:solidFill>
                      <a:srgbClr val="5FC9ED"/>
                    </a:solidFill>
                  </a:tcPr>
                </a:tc>
              </a:tr>
              <a:tr h="5932426">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3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3.</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680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207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Stock Prediction Based on Optimized LSTM and GRU Models</a:t>
                      </a: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[3]</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3980" marR="0" lvl="0" indent="0" algn="l" defTabSz="457200" rtl="0" eaLnBrk="1" fontAlgn="base" latinLnBrk="0" hangingPunct="0">
                        <a:lnSpc>
                          <a:spcPct val="97000"/>
                        </a:lnSpc>
                        <a:spcBef>
                          <a:spcPts val="175"/>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 </a:t>
                      </a:r>
                      <a:r>
                        <a:rPr lang="en-IN" sz="2400" dirty="0">
                          <a:latin typeface="Times New Roman" panose="02020603050405020304" pitchFamily="16" charset="0"/>
                          <a:cs typeface="Times New Roman" panose="02020603050405020304" pitchFamily="16" charset="0"/>
                        </a:rPr>
                        <a:t>Gao et al</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12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5250" marR="0" lvl="0" indent="0" algn="l" defTabSz="457200" rtl="0" eaLnBrk="1" fontAlgn="base" latinLnBrk="0" hangingPunct="0">
                        <a:lnSpc>
                          <a:spcPct val="97000"/>
                        </a:lnSpc>
                        <a:spcBef>
                          <a:spcPts val="350"/>
                        </a:spcBef>
                        <a:spcAft>
                          <a:spcPts val="15"/>
                        </a:spcAft>
                        <a:buClr>
                          <a:srgbClr val="000000"/>
                        </a:buClr>
                        <a:buSzPct val="100000"/>
                        <a:buFont typeface="Times New Roman" panose="02020603050405020304" pitchFamily="16"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rPr>
                        <a:t>2021</a:t>
                      </a:r>
                      <a:endParaRPr kumimoji="0" lang="en-US" altLang="en-US" sz="2400" b="0" i="0" u="none" strike="noStrike" cap="none" normalizeH="0" baseline="0" dirty="0">
                        <a:ln>
                          <a:noFill/>
                        </a:ln>
                        <a:solidFill>
                          <a:srgbClr val="000000"/>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43563"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pPr marL="97155" marR="0" lvl="0" indent="0" algn="l" defTabSz="457200" rtl="0" eaLnBrk="1" fontAlgn="base" latinLnBrk="0" hangingPunct="0">
                        <a:lnSpc>
                          <a:spcPct val="97000"/>
                        </a:lnSpc>
                        <a:spcBef>
                          <a:spcPts val="1200"/>
                        </a:spcBef>
                        <a:spcAft>
                          <a:spcPts val="1000"/>
                        </a:spcAft>
                        <a:buClr>
                          <a:srgbClr val="000000"/>
                        </a:buClr>
                        <a:buSzPct val="100000"/>
                        <a:buFont typeface="Times New Roman" panose="02020603050405020304" pitchFamily="16" charset="0"/>
                        <a:buNone/>
                        <a:tabLst>
                          <a:tab pos="4635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pPr>
                      <a:r>
                        <a:rPr lang="en-GB" sz="2400" dirty="0">
                          <a:latin typeface="Times New Roman" panose="02020603050405020304" pitchFamily="16" charset="0"/>
                          <a:cs typeface="Times New Roman" panose="02020603050405020304" pitchFamily="16" charset="0"/>
                        </a:rPr>
                        <a:t>Optimized LSTM models incorporating technical indicators and investor sentiment data achieved superior accuracy.</a:t>
                      </a:r>
                      <a:endParaRPr kumimoji="0" lang="en-US" altLang="en-US" sz="2400" b="0" i="0" u="none" strike="noStrike" cap="none" normalizeH="0" baseline="0" dirty="0">
                        <a:ln>
                          <a:noFill/>
                        </a:ln>
                        <a:solidFill>
                          <a:schemeClr val="tx2"/>
                        </a:solidFill>
                        <a:effectLst/>
                        <a:latin typeface="Times New Roman" panose="02020603050405020304" pitchFamily="16" charset="0"/>
                        <a:ea typeface="Microsoft YaHei" panose="020B0503020204020204" charset="-122"/>
                        <a:cs typeface="Times New Roman" panose="02020603050405020304" pitchFamily="16" charset="0"/>
                      </a:endParaRPr>
                    </a:p>
                  </a:txBody>
                  <a:tcPr marL="0" marR="0" marT="2016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60325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r>
                        <a:rPr lang="en-GB" sz="2400" dirty="0">
                          <a:latin typeface="Times New Roman" panose="02020603050405020304" pitchFamily="16" charset="0"/>
                          <a:cs typeface="Times New Roman" panose="02020603050405020304" pitchFamily="16" charset="0"/>
                        </a:rPr>
                        <a:t>LSTM and GRU models were compared by incorporating technical indicators, with model optimization performed through hyperparameter tuning.</a:t>
                      </a:r>
                      <a:endParaRPr lang="en-GB" sz="2400" dirty="0">
                        <a:latin typeface="Times New Roman" panose="02020603050405020304" pitchFamily="16" charset="0"/>
                        <a:cs typeface="Times New Roman" panose="02020603050405020304" pitchFamily="16" charset="0"/>
                      </a:endParaRPr>
                    </a:p>
                  </a:txBody>
                  <a:tcPr marL="0" marR="0" marT="19441"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c>
                  <a:txBody>
                    <a:bodyPr/>
                    <a:lstStyle>
                      <a:lvl1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700">
                          <a:solidFill>
                            <a:srgbClr val="404040"/>
                          </a:solidFill>
                          <a:latin typeface="Trebuchet MS" panose="020B0603020202020204" pitchFamily="34" charset="0"/>
                          <a:ea typeface="Microsoft YaHei" panose="020B0503020204020204" charset="-122"/>
                        </a:defRPr>
                      </a:lvl1pPr>
                      <a:lvl2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500">
                          <a:solidFill>
                            <a:srgbClr val="404040"/>
                          </a:solidFill>
                          <a:latin typeface="Trebuchet MS" panose="020B0603020202020204" pitchFamily="34" charset="0"/>
                          <a:ea typeface="Microsoft YaHei" panose="020B0503020204020204" charset="-122"/>
                        </a:defRPr>
                      </a:lvl2pPr>
                      <a:lvl3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300">
                          <a:solidFill>
                            <a:srgbClr val="404040"/>
                          </a:solidFill>
                          <a:latin typeface="Trebuchet MS" panose="020B0603020202020204" pitchFamily="34" charset="0"/>
                          <a:ea typeface="Microsoft YaHei" panose="020B0503020204020204" charset="-122"/>
                        </a:defRPr>
                      </a:lvl3pPr>
                      <a:lvl4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4pPr>
                      <a:lvl5pPr>
                        <a:spcBef>
                          <a:spcPts val="1115"/>
                        </a:spcBef>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5pPr>
                      <a:lvl6pPr marL="25146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6pPr>
                      <a:lvl7pPr marL="29718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7pPr>
                      <a:lvl8pPr marL="34290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8pPr>
                      <a:lvl9pPr marL="3886200" indent="-228600" defTabSz="457200" eaLnBrk="0" fontAlgn="base" hangingPunct="0">
                        <a:spcBef>
                          <a:spcPts val="1115"/>
                        </a:spcBef>
                        <a:spcAft>
                          <a:spcPts val="15"/>
                        </a:spcAft>
                        <a:buClr>
                          <a:srgbClr val="000000"/>
                        </a:buClr>
                        <a:buSzPct val="100000"/>
                        <a:buFont typeface="Times New Roman" panose="02020603050405020304" pitchFamily="16" charset="0"/>
                        <a:tabLst>
                          <a:tab pos="36195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sz="1100">
                          <a:solidFill>
                            <a:srgbClr val="404040"/>
                          </a:solidFill>
                          <a:latin typeface="Trebuchet MS" panose="020B0603020202020204" pitchFamily="34" charset="0"/>
                          <a:ea typeface="Microsoft YaHei" panose="020B0503020204020204" charset="-122"/>
                        </a:defRPr>
                      </a:lvl9pPr>
                    </a:lstStyle>
                    <a:p>
                      <a:r>
                        <a:rPr lang="en-GB" sz="2400" dirty="0">
                          <a:latin typeface="Times New Roman" panose="02020603050405020304" pitchFamily="16" charset="0"/>
                          <a:cs typeface="Times New Roman" panose="02020603050405020304" pitchFamily="16" charset="0"/>
                        </a:rPr>
                        <a:t>LSTM models consistently outperformed GRU models in terms of accuracy and trend detection.</a:t>
                      </a:r>
                      <a:endParaRPr lang="en-GB" sz="2400" dirty="0">
                        <a:latin typeface="Times New Roman" panose="02020603050405020304" pitchFamily="16" charset="0"/>
                        <a:cs typeface="Times New Roman" panose="02020603050405020304" pitchFamily="16" charset="0"/>
                      </a:endParaRPr>
                    </a:p>
                  </a:txBody>
                  <a:tcPr marL="0" marR="0" marT="33482" marB="0" horzOverflow="overflow">
                    <a:lnL w="18720" cap="flat" cmpd="sng" algn="ctr">
                      <a:solidFill>
                        <a:srgbClr val="FFFFFF"/>
                      </a:solidFill>
                      <a:prstDash val="solid"/>
                      <a:round/>
                      <a:headEnd type="none" w="med" len="med"/>
                      <a:tailEnd type="none" w="med" len="med"/>
                    </a:lnL>
                    <a:lnR w="18720" cap="flat" cmpd="sng" algn="ctr">
                      <a:solidFill>
                        <a:srgbClr val="FFFFFF"/>
                      </a:solidFill>
                      <a:prstDash val="solid"/>
                      <a:round/>
                      <a:headEnd type="none" w="med" len="med"/>
                      <a:tailEnd type="none" w="med" len="med"/>
                    </a:lnR>
                    <a:lnT w="56880" cap="flat" cmpd="sng" algn="ctr">
                      <a:solidFill>
                        <a:srgbClr val="FFFFFF"/>
                      </a:solidFill>
                      <a:prstDash val="solid"/>
                      <a:round/>
                      <a:headEnd type="none" w="med" len="med"/>
                      <a:tailEnd type="none" w="med" len="med"/>
                    </a:lnT>
                    <a:lnB>
                      <a:noFill/>
                    </a:lnB>
                    <a:lnTlToBr>
                      <a:noFill/>
                    </a:lnTlToBr>
                    <a:lnBlToTr>
                      <a:noFill/>
                    </a:lnBlToTr>
                    <a:solidFill>
                      <a:srgbClr val="D2EBF8"/>
                    </a:solidFill>
                  </a:tcPr>
                </a:tc>
              </a:tr>
            </a:tbl>
          </a:graphicData>
        </a:graphic>
      </p:graphicFrame>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1513" y="671513"/>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j-ea"/>
                <a:cs typeface="DejaVu Sans" charset="0"/>
              </a:rPr>
              <a:t> </a:t>
            </a: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j-ea"/>
                <a:cs typeface="+mj-cs"/>
              </a:rPr>
              <a:t>Limitations of existing systems </a:t>
            </a:r>
            <a:b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j-ea"/>
                <a:cs typeface="+mj-cs"/>
              </a:rPr>
            </a:br>
            <a:endParaRPr kumimoji="0" 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21507" name="Rectangle 1"/>
          <p:cNvSpPr>
            <a:spLocks noChangeArrowheads="1"/>
          </p:cNvSpPr>
          <p:nvPr/>
        </p:nvSpPr>
        <p:spPr bwMode="auto">
          <a:xfrm rot="10800000" flipV="1">
            <a:off x="431800" y="1281113"/>
            <a:ext cx="8640763" cy="5264150"/>
          </a:xfrm>
          <a:prstGeom prst="rect">
            <a:avLst/>
          </a:prstGeom>
          <a:noFill/>
          <a:ln>
            <a:noFill/>
          </a:ln>
          <a:effectLst/>
        </p:spPr>
        <p:txBody>
          <a:bodyPr anchor="ctr">
            <a:spAutoFit/>
          </a:bodyPr>
          <a:lstStyle>
            <a:lvl1pPr marL="457200" indent="-4572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defRPr>
                <a:solidFill>
                  <a:schemeClr val="tx1"/>
                </a:solidFill>
                <a:latin typeface="Trebuchet MS" panose="020B0603020202020204" pitchFamily="34" charset="0"/>
              </a:defRPr>
            </a:lvl9pPr>
          </a:lstStyle>
          <a:p>
            <a:pPr marL="342900" marR="0" lvl="0" indent="-342900" algn="l"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Stock Prices Are Highly Volatile and Unpredictable:</a:t>
            </a:r>
            <a:endPar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Stock prices are influenced by multiple factors, including</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market sentiment, economic policies, and unexpected</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events, making them difficult to predict accurately using</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traditional models.</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342900" marR="0" lvl="0" indent="-342900" algn="l"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Limitation: Lack of Clear Visual Representations</a:t>
            </a:r>
            <a:endPar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The current system does not provide clear visual outputs for</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users to interpret stock trends, predicted price movements,</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or model performance.</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342900" marR="0" lvl="0" indent="-342900" algn="l" defTabSz="457200" rtl="0" eaLnBrk="0" fontAlgn="base" latinLnBrk="0" hangingPunct="0">
              <a:lnSpc>
                <a:spcPct val="100000"/>
              </a:lnSpc>
              <a:spcBef>
                <a:spcPct val="0"/>
              </a:spcBef>
              <a:spcAft>
                <a:spcPct val="0"/>
              </a:spcAft>
              <a:buClrTx/>
              <a:buSzTx/>
              <a:buFont typeface="Arial" panose="020B0604020202020204" pitchFamily="34" charset="0"/>
              <a:buChar char="•"/>
              <a:defRPr/>
            </a:pPr>
            <a:endPar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342900" marR="0" lvl="0" indent="-342900" algn="l" defTabSz="4572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en-GB" sz="2400" b="1"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Lack of Real-Time User Interaction: </a:t>
            </a: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The existing system</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does not provide a way for users to interact and ask stock</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a:p>
            <a:pPr marL="0" marR="0" lvl="0" indent="0" algn="l" defTabSz="457200" rtl="0" eaLnBrk="0" fontAlgn="base" latinLnBrk="0" hangingPunct="0">
              <a:lnSpc>
                <a:spcPct val="100000"/>
              </a:lnSpc>
              <a:spcBef>
                <a:spcPct val="0"/>
              </a:spcBef>
              <a:spcAft>
                <a:spcPct val="0"/>
              </a:spcAft>
              <a:buClrTx/>
              <a:buSzTx/>
              <a:buFontTx/>
              <a:buNone/>
              <a:defRPr/>
            </a:pPr>
            <a:r>
              <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rPr>
              <a:t>related queries dynamically.</a:t>
            </a:r>
            <a:endParaRPr kumimoji="0" lang="en-GB" sz="2400" b="0" i="0" u="none" strike="noStrike" kern="1200" cap="none" spc="0" normalizeH="0" baseline="0" noProof="0" dirty="0">
              <a:ln>
                <a:noFill/>
              </a:ln>
              <a:solidFill>
                <a:schemeClr val="tx1"/>
              </a:solidFill>
              <a:effectLst/>
              <a:uLnTx/>
              <a:uFillTx/>
              <a:latin typeface="Times New Roman" panose="02020603050405020304" pitchFamily="16" charset="0"/>
              <a:ea typeface="Tahoma" panose="020B0604030504040204" pitchFamily="34" charset="0"/>
              <a:cs typeface="Times New Roman" panose="02020603050405020304" pitchFamily="1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15900" y="179388"/>
            <a:ext cx="6997700" cy="1455738"/>
          </a:xfrm>
        </p:spPr>
        <p:txBody>
          <a:bodyPr vert="horz" wrap="square" lIns="91440" tIns="45720" rIns="91440" bIns="45720" numCol="1" anchor="t" anchorCtr="0" compatLnSpc="1"/>
          <a:lstStyle/>
          <a:p>
            <a:pPr marL="0" marR="0" lvl="0" indent="0" algn="l" defTabSz="503555" rtl="0" eaLnBrk="0" fontAlgn="base" latinLnBrk="0" hangingPunct="0">
              <a:lnSpc>
                <a:spcPct val="100000"/>
              </a:lnSpc>
              <a:spcBef>
                <a:spcPct val="0"/>
              </a:spcBef>
              <a:spcAft>
                <a:spcPct val="0"/>
              </a:spcAft>
              <a:buClrTx/>
              <a:buSzTx/>
              <a:buFontTx/>
              <a:buNone/>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rPr>
              <a:t> Problem statement </a:t>
            </a:r>
            <a:endParaRPr kumimoji="0" lang="en-IN"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mj-cs"/>
            </a:endParaRPr>
          </a:p>
        </p:txBody>
      </p:sp>
      <p:sp>
        <p:nvSpPr>
          <p:cNvPr id="22531" name="Content Placeholder 2"/>
          <p:cNvSpPr>
            <a:spLocks noGrp="1" noChangeArrowheads="1"/>
          </p:cNvSpPr>
          <p:nvPr>
            <p:ph idx="1"/>
          </p:nvPr>
        </p:nvSpPr>
        <p:spPr>
          <a:xfrm>
            <a:off x="180975" y="971550"/>
            <a:ext cx="9361488" cy="5616575"/>
          </a:xfrm>
        </p:spPr>
        <p:txBody>
          <a:bodyPr vert="horz" wrap="square" lIns="91440" tIns="45720" rIns="91440" bIns="45720" numCol="1" anchor="t" anchorCtr="0" compatLnSpc="1"/>
          <a:lstStyle/>
          <a:p>
            <a:pPr marL="377825" marR="0" lvl="0" indent="-377825" algn="l" defTabSz="503555" rtl="0" eaLnBrk="0" fontAlgn="base" latinLnBrk="0" hangingPunct="0">
              <a:lnSpc>
                <a:spcPct val="100000"/>
              </a:lnSpc>
              <a:spcBef>
                <a:spcPts val="1100"/>
              </a:spcBef>
              <a:spcAft>
                <a:spcPct val="0"/>
              </a:spcAft>
              <a:buClr>
                <a:srgbClr val="0D0D0D"/>
              </a:buClr>
              <a:buSzPct val="88000"/>
              <a:buFont typeface="Arial" panose="020B0604020202020204" pitchFamily="34" charset="0"/>
              <a:buChar char="•"/>
              <a:defRPr/>
            </a:pPr>
            <a:r>
              <a:rPr kumimoji="0" lang="en-GB" altLang="en-US" sz="2400" b="1"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Stock Prices Are Highly Volatile and Unpredictable: </a:t>
            </a:r>
            <a:r>
              <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Enhance prediction accuracy by integrating real-time financial news, sentiment analysis, and macroeconomic indicators into the LSTM model.</a:t>
            </a:r>
            <a:endPar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a:p>
            <a:pPr marL="0" marR="0" lvl="0" indent="0" algn="l" defTabSz="503555" rtl="0" eaLnBrk="0" fontAlgn="base" latinLnBrk="0" hangingPunct="0">
              <a:lnSpc>
                <a:spcPct val="100000"/>
              </a:lnSpc>
              <a:spcBef>
                <a:spcPts val="1100"/>
              </a:spcBef>
              <a:spcAft>
                <a:spcPct val="0"/>
              </a:spcAft>
              <a:buClr>
                <a:srgbClr val="0D0D0D"/>
              </a:buClr>
              <a:buSzPct val="88000"/>
              <a:buFont typeface="Wingdings 3" panose="05040102010807070707" pitchFamily="82" charset="2"/>
              <a:buNone/>
              <a:defRPr/>
            </a:pPr>
            <a:endPar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a:p>
            <a:pPr marL="377825" marR="0" lvl="0" indent="-377825" algn="l" defTabSz="503555" rtl="0" eaLnBrk="0" fontAlgn="base" latinLnBrk="0" hangingPunct="0">
              <a:lnSpc>
                <a:spcPct val="100000"/>
              </a:lnSpc>
              <a:spcBef>
                <a:spcPts val="1100"/>
              </a:spcBef>
              <a:spcAft>
                <a:spcPct val="0"/>
              </a:spcAft>
              <a:buClr>
                <a:srgbClr val="0D0D0D"/>
              </a:buClr>
              <a:buSzPct val="88000"/>
              <a:buFont typeface="Arial" panose="020B0604020202020204" pitchFamily="34" charset="0"/>
              <a:buChar char="•"/>
              <a:defRPr/>
            </a:pPr>
            <a:r>
              <a:rPr kumimoji="0" lang="en-GB" altLang="en-US" sz="2400" b="1"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Lack of Clear Visual Representations: </a:t>
            </a:r>
            <a:r>
              <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Providing comparative analysis between ml </a:t>
            </a:r>
            <a:r>
              <a:rPr kumimoji="0" lang="en-GB" altLang="en-US" sz="2400" b="0" i="0" u="none" strike="noStrike" kern="1200" cap="none" spc="0" normalizeH="0" baseline="0" noProof="0" dirty="0" err="1">
                <a:ln>
                  <a:noFill/>
                </a:ln>
                <a:solidFill>
                  <a:srgbClr val="404040"/>
                </a:solidFill>
                <a:effectLst/>
                <a:uLnTx/>
                <a:uFillTx/>
                <a:latin typeface="Times New Roman" panose="02020603050405020304" pitchFamily="16" charset="0"/>
                <a:ea typeface="+mn-ea"/>
                <a:cs typeface="Times New Roman" panose="02020603050405020304" pitchFamily="16" charset="0"/>
              </a:rPr>
              <a:t>modles</a:t>
            </a:r>
            <a:r>
              <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 like LSTM, RNN, ARIMA and their comparative graphs with accuracies.</a:t>
            </a:r>
            <a:endPar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a:p>
            <a:pPr marL="0" marR="0" lvl="0" indent="0" algn="l" defTabSz="503555" rtl="0" eaLnBrk="0" fontAlgn="base" latinLnBrk="0" hangingPunct="0">
              <a:lnSpc>
                <a:spcPct val="100000"/>
              </a:lnSpc>
              <a:spcBef>
                <a:spcPts val="1100"/>
              </a:spcBef>
              <a:spcAft>
                <a:spcPct val="0"/>
              </a:spcAft>
              <a:buClr>
                <a:srgbClr val="0D0D0D"/>
              </a:buClr>
              <a:buSzPct val="88000"/>
              <a:buFont typeface="Wingdings 3" panose="05040102010807070707" pitchFamily="82" charset="2"/>
              <a:buNone/>
              <a:defRPr/>
            </a:pPr>
            <a:endPar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a:p>
            <a:pPr marL="377825" marR="0" lvl="0" indent="-377825" algn="l" defTabSz="503555" rtl="0" eaLnBrk="0" fontAlgn="base" latinLnBrk="0" hangingPunct="0">
              <a:lnSpc>
                <a:spcPct val="100000"/>
              </a:lnSpc>
              <a:spcBef>
                <a:spcPts val="1100"/>
              </a:spcBef>
              <a:spcAft>
                <a:spcPct val="0"/>
              </a:spcAft>
              <a:buClr>
                <a:srgbClr val="0D0D0D"/>
              </a:buClr>
              <a:buSzPct val="80000"/>
              <a:buFont typeface="Arial" panose="020B0604020202020204" pitchFamily="34" charset="0"/>
              <a:buChar char="•"/>
              <a:defRPr/>
            </a:pPr>
            <a:r>
              <a:rPr kumimoji="0" lang="en-GB" altLang="en-US" sz="2400" b="1"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Lack of Real-Time User Interaction:</a:t>
            </a:r>
            <a:r>
              <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rPr>
              <a:t> Integrate a chatbot that allows users to query stock predictions, historical trends, and insights in real time.</a:t>
            </a:r>
            <a:endParaRPr kumimoji="0" lang="en-GB"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a:p>
            <a:pPr marL="377825" marR="0" lvl="0" indent="-377825" algn="just" defTabSz="503555"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IN" altLang="en-US" sz="2400" b="0" i="0" u="none" strike="noStrike" kern="1200" cap="none" spc="0" normalizeH="0" baseline="0" noProof="0" dirty="0">
              <a:ln>
                <a:noFill/>
              </a:ln>
              <a:solidFill>
                <a:srgbClr val="404040"/>
              </a:solidFill>
              <a:effectLst/>
              <a:uLnTx/>
              <a:uFillTx/>
              <a:latin typeface="Times New Roman" panose="02020603050405020304" pitchFamily="16" charset="0"/>
              <a:ea typeface="+mn-ea"/>
              <a:cs typeface="Times New Roman" panose="02020603050405020304" pitchFamily="1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System Design</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3555" name="Rectangle 2"/>
          <p:cNvSpPr/>
          <p:nvPr/>
        </p:nvSpPr>
        <p:spPr>
          <a:xfrm>
            <a:off x="503238" y="1768475"/>
            <a:ext cx="9070975" cy="4989513"/>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pic>
        <p:nvPicPr>
          <p:cNvPr id="23556" name="Picture 1"/>
          <p:cNvPicPr>
            <a:picLocks noChangeAspect="1"/>
          </p:cNvPicPr>
          <p:nvPr/>
        </p:nvPicPr>
        <p:blipFill>
          <a:blip r:embed="rId1"/>
          <a:stretch>
            <a:fillRect/>
          </a:stretch>
        </p:blipFill>
        <p:spPr>
          <a:xfrm>
            <a:off x="503238" y="1403350"/>
            <a:ext cx="9070975" cy="5513388"/>
          </a:xfrm>
          <a:prstGeom prst="rect">
            <a:avLst/>
          </a:prstGeom>
          <a:noFill/>
          <a:ln w="9525">
            <a:noFill/>
          </a:ln>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Technologies and methodologies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0483" name="Content Placeholder 2"/>
          <p:cNvSpPr txBox="1"/>
          <p:nvPr/>
        </p:nvSpPr>
        <p:spPr bwMode="auto">
          <a:xfrm>
            <a:off x="393700" y="1474788"/>
            <a:ext cx="9180513" cy="5610225"/>
          </a:xfrm>
          <a:prstGeom prst="rect">
            <a:avLst/>
          </a:prstGeom>
          <a:noFill/>
          <a:ln>
            <a:noFill/>
          </a:ln>
        </p:spPr>
        <p:txBody>
          <a:bodyPr/>
          <a:lstStyle>
            <a:lvl1pPr marL="342900" indent="-342900">
              <a:spcBef>
                <a:spcPts val="1100"/>
              </a:spcBef>
              <a:buClr>
                <a:schemeClr val="accent1"/>
              </a:buClr>
              <a:buSzPct val="80000"/>
              <a:buFont typeface="Wingdings 3" panose="05040102010807070707" pitchFamily="82" charset="2"/>
              <a:buChar char=""/>
              <a:defRPr sz="1900">
                <a:solidFill>
                  <a:srgbClr val="404040"/>
                </a:solidFill>
                <a:latin typeface="Trebuchet MS" panose="020B0603020202020204" pitchFamily="34" charset="0"/>
              </a:defRPr>
            </a:lvl1pPr>
            <a:lvl2pPr marL="742950" indent="-285750">
              <a:spcBef>
                <a:spcPts val="1100"/>
              </a:spcBef>
              <a:buClr>
                <a:schemeClr val="accent1"/>
              </a:buClr>
              <a:buSzPct val="80000"/>
              <a:buFont typeface="Wingdings 3" panose="05040102010807070707" pitchFamily="82" charset="2"/>
              <a:buChar char=""/>
              <a:defRPr sz="1700">
                <a:solidFill>
                  <a:srgbClr val="404040"/>
                </a:solidFill>
                <a:latin typeface="Trebuchet MS" panose="020B0603020202020204" pitchFamily="34" charset="0"/>
              </a:defRPr>
            </a:lvl2pPr>
            <a:lvl3pPr marL="1143000" indent="-228600">
              <a:spcBef>
                <a:spcPts val="1100"/>
              </a:spcBef>
              <a:buClr>
                <a:schemeClr val="accent1"/>
              </a:buClr>
              <a:buSzPct val="80000"/>
              <a:buFont typeface="Wingdings 3" panose="05040102010807070707" pitchFamily="82" charset="2"/>
              <a:buChar char=""/>
              <a:defRPr sz="1500">
                <a:solidFill>
                  <a:srgbClr val="404040"/>
                </a:solidFill>
                <a:latin typeface="Trebuchet MS" panose="020B0603020202020204" pitchFamily="34" charset="0"/>
              </a:defRPr>
            </a:lvl3pPr>
            <a:lvl4pPr marL="1600200" indent="-228600">
              <a:spcBef>
                <a:spcPts val="1100"/>
              </a:spcBef>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4pPr>
            <a:lvl5pPr marL="2057400" indent="-228600">
              <a:spcBef>
                <a:spcPts val="1100"/>
              </a:spcBef>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5pPr>
            <a:lvl6pPr marL="2514600" indent="-228600" eaLnBrk="0" fontAlgn="base" hangingPunct="0">
              <a:spcBef>
                <a:spcPts val="1100"/>
              </a:spcBef>
              <a:spcAft>
                <a:spcPct val="0"/>
              </a:spcAft>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6pPr>
            <a:lvl7pPr marL="2971800" indent="-228600" eaLnBrk="0" fontAlgn="base" hangingPunct="0">
              <a:spcBef>
                <a:spcPts val="1100"/>
              </a:spcBef>
              <a:spcAft>
                <a:spcPct val="0"/>
              </a:spcAft>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7pPr>
            <a:lvl8pPr marL="3429000" indent="-228600" eaLnBrk="0" fontAlgn="base" hangingPunct="0">
              <a:spcBef>
                <a:spcPts val="1100"/>
              </a:spcBef>
              <a:spcAft>
                <a:spcPct val="0"/>
              </a:spcAft>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8pPr>
            <a:lvl9pPr marL="3886200" indent="-228600" eaLnBrk="0" fontAlgn="base" hangingPunct="0">
              <a:spcBef>
                <a:spcPts val="1100"/>
              </a:spcBef>
              <a:spcAft>
                <a:spcPct val="0"/>
              </a:spcAft>
              <a:buClr>
                <a:schemeClr val="accent1"/>
              </a:buClr>
              <a:buSzPct val="80000"/>
              <a:buFont typeface="Wingdings 3" panose="05040102010807070707" pitchFamily="82" charset="2"/>
              <a:buChar char=""/>
              <a:defRPr sz="1300">
                <a:solidFill>
                  <a:srgbClr val="404040"/>
                </a:solidFill>
                <a:latin typeface="Trebuchet MS" panose="020B0603020202020204" pitchFamily="34" charset="0"/>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Front-End:</a:t>
            </a:r>
            <a:endPar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1800" b="0" i="0" u="none" strike="noStrike" kern="1200" cap="none" spc="-10" normalizeH="0" baseline="0" noProof="0" dirty="0">
                <a:ln>
                  <a:noFill/>
                </a:ln>
                <a:solidFill>
                  <a:srgbClr val="1F1F1F"/>
                </a:solidFill>
                <a:effectLst/>
                <a:uLnTx/>
                <a:uFillTx/>
                <a:latin typeface="Times New Roman" panose="02020603050405020304" pitchFamily="16" charset="0"/>
                <a:ea typeface="Symbol" panose="05050102010706020507" pitchFamily="18" charset="2"/>
                <a:cs typeface="Symbol" panose="05050102010706020507" pitchFamily="18" charset="2"/>
              </a:rPr>
              <a:t>HTML5 </a:t>
            </a:r>
            <a:endParaRPr kumimoji="0" lang="en-US" sz="1800" b="0" i="0" u="none" strike="noStrike" kern="1200" cap="none" spc="-10" normalizeH="0" baseline="0" noProof="0" dirty="0">
              <a:ln>
                <a:noFill/>
              </a:ln>
              <a:solidFill>
                <a:srgbClr val="1F1F1F"/>
              </a:solidFill>
              <a:effectLst/>
              <a:uLnTx/>
              <a:uFillTx/>
              <a:latin typeface="Times New Roman" panose="02020603050405020304" pitchFamily="16" charset="0"/>
              <a:ea typeface="Symbol" panose="05050102010706020507" pitchFamily="18" charset="2"/>
              <a:cs typeface="Symbol" panose="05050102010706020507" pitchFamily="18" charset="2"/>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1800" b="0" i="0" u="none" strike="noStrike" kern="1200" cap="none" spc="-20" normalizeH="0" baseline="0" noProof="0" dirty="0">
                <a:ln>
                  <a:noFill/>
                </a:ln>
                <a:solidFill>
                  <a:srgbClr val="1F1F1F"/>
                </a:solidFill>
                <a:effectLst/>
                <a:uLnTx/>
                <a:uFillTx/>
                <a:latin typeface="Times New Roman" panose="02020603050405020304" pitchFamily="16" charset="0"/>
                <a:ea typeface="Symbol" panose="05050102010706020507" pitchFamily="18" charset="2"/>
                <a:cs typeface="Symbol" panose="05050102010706020507" pitchFamily="18" charset="2"/>
              </a:rPr>
              <a:t>CSS3</a:t>
            </a:r>
            <a:endPar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457200" marR="0" lvl="1" indent="0" algn="just" defTabSz="914400" rtl="0" eaLnBrk="0" fontAlgn="base" latinLnBrk="0" hangingPunct="0">
              <a:lnSpc>
                <a:spcPct val="100000"/>
              </a:lnSpc>
              <a:spcBef>
                <a:spcPct val="20000"/>
              </a:spcBef>
              <a:spcAft>
                <a:spcPct val="0"/>
              </a:spcAft>
              <a:buClrTx/>
              <a:buSzTx/>
              <a:buFont typeface="Wingdings 3" panose="05040102010807070707" pitchFamily="82" charset="2"/>
              <a:buNone/>
              <a:defRPr/>
            </a:pPr>
            <a:endPar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Back-End:</a:t>
            </a:r>
            <a:endPar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1800" b="0" i="0" u="none" strike="noStrike" kern="1200" cap="none" spc="-30" normalizeH="0" baseline="0" noProof="0" dirty="0">
                <a:ln>
                  <a:noFill/>
                </a:ln>
                <a:solidFill>
                  <a:srgbClr val="1F1F1F"/>
                </a:solidFill>
                <a:effectLst/>
                <a:uLnTx/>
                <a:uFillTx/>
                <a:latin typeface="Times New Roman" panose="02020603050405020304" pitchFamily="16" charset="0"/>
                <a:ea typeface="Times New Roman" panose="02020603050405020304" pitchFamily="16" charset="0"/>
                <a:cs typeface="+mn-cs"/>
              </a:rPr>
              <a:t>Python</a:t>
            </a:r>
            <a:r>
              <a:rPr kumimoji="0" lang="en-US" sz="1800" b="0" i="0" u="none" strike="noStrike" kern="1200" cap="none" spc="-105" normalizeH="0" baseline="0" noProof="0" dirty="0">
                <a:ln>
                  <a:noFill/>
                </a:ln>
                <a:solidFill>
                  <a:srgbClr val="1F1F1F"/>
                </a:solidFill>
                <a:effectLst/>
                <a:uLnTx/>
                <a:uFillTx/>
                <a:latin typeface="Times New Roman" panose="02020603050405020304" pitchFamily="16" charset="0"/>
                <a:ea typeface="Times New Roman" panose="02020603050405020304" pitchFamily="16" charset="0"/>
                <a:cs typeface="+mn-cs"/>
              </a:rPr>
              <a:t> </a:t>
            </a:r>
            <a:r>
              <a:rPr kumimoji="0" lang="en-US" sz="1800" b="0" i="0" u="none" strike="noStrike" kern="1200" cap="none" spc="-30" normalizeH="0" baseline="0" noProof="0" dirty="0">
                <a:ln>
                  <a:noFill/>
                </a:ln>
                <a:solidFill>
                  <a:srgbClr val="1F1F1F"/>
                </a:solidFill>
                <a:effectLst/>
                <a:uLnTx/>
                <a:uFillTx/>
                <a:latin typeface="Times New Roman" panose="02020603050405020304" pitchFamily="16" charset="0"/>
                <a:ea typeface="Times New Roman" panose="02020603050405020304" pitchFamily="16" charset="0"/>
                <a:cs typeface="+mn-cs"/>
              </a:rPr>
              <a:t>(3.11.0)</a:t>
            </a:r>
            <a:endParaRPr kumimoji="0" lang="en-US" sz="1800" b="0" i="0" u="none" strike="noStrike" kern="1200" cap="none" spc="-30" normalizeH="0" baseline="0" noProof="0" dirty="0">
              <a:ln>
                <a:noFill/>
              </a:ln>
              <a:solidFill>
                <a:srgbClr val="1F1F1F"/>
              </a:solidFill>
              <a:effectLst/>
              <a:uLnTx/>
              <a:uFillTx/>
              <a:latin typeface="Times New Roman" panose="02020603050405020304" pitchFamily="16" charset="0"/>
              <a:ea typeface="Times New Roman" panose="02020603050405020304" pitchFamily="16" charset="0"/>
              <a:cs typeface="+mn-cs"/>
            </a:endParaRPr>
          </a:p>
          <a:p>
            <a:pPr marL="457200" marR="0" lvl="1" indent="0" algn="just" defTabSz="914400" rtl="0" eaLnBrk="0" fontAlgn="base" latinLnBrk="0" hangingPunct="0">
              <a:lnSpc>
                <a:spcPct val="100000"/>
              </a:lnSpc>
              <a:spcBef>
                <a:spcPct val="20000"/>
              </a:spcBef>
              <a:spcAft>
                <a:spcPct val="0"/>
              </a:spcAft>
              <a:buClrTx/>
              <a:buSzTx/>
              <a:buFont typeface="Wingdings 3" panose="05040102010807070707" pitchFamily="82" charset="2"/>
              <a:buNone/>
              <a:defRPr/>
            </a:pPr>
            <a:endPar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Dataset:</a:t>
            </a:r>
            <a:endPar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Dataset from Kaggl</a:t>
            </a:r>
            <a:r>
              <a:rPr kumimoji="0" lang="en-US" altLang="en-GB"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e</a:t>
            </a:r>
            <a:endParaRPr kumimoji="0" lang="en-US" altLang="en-GB"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619041(Rows)</a:t>
            </a:r>
            <a:endParaRPr kumimoji="0" lang="en-US" altLang="en-GB"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GB"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7(Columns)</a:t>
            </a:r>
            <a:endParaRPr kumimoji="0" lang="en-GB"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457200" marR="0" lvl="1" indent="0" algn="just" defTabSz="914400" rtl="0" eaLnBrk="0" fontAlgn="base" latinLnBrk="0" hangingPunct="0">
              <a:lnSpc>
                <a:spcPct val="100000"/>
              </a:lnSpc>
              <a:spcBef>
                <a:spcPct val="20000"/>
              </a:spcBef>
              <a:spcAft>
                <a:spcPct val="0"/>
              </a:spcAft>
              <a:buClrTx/>
              <a:buSzTx/>
              <a:buFont typeface="Wingdings 3" panose="05040102010807070707" pitchFamily="82" charset="2"/>
              <a:buNone/>
              <a:defRPr/>
            </a:pPr>
            <a:endParaRPr kumimoji="0" lang="en-GB" altLang="en-US" sz="20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Algorithm:</a:t>
            </a:r>
            <a:endParaRPr kumimoji="0" lang="en-GB" altLang="en-US" sz="2000" b="1"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LSTM</a:t>
            </a:r>
            <a:endPar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RNN</a:t>
            </a:r>
            <a:endPar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a:p>
            <a:pPr marL="742950" marR="0" lvl="1" indent="-28575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rPr>
              <a:t>ARIMA</a:t>
            </a:r>
            <a:endParaRPr kumimoji="0" lang="en-US" altLang="en-US" sz="1800" b="0" i="0" u="none" strike="noStrike" kern="1200" cap="none" spc="0" normalizeH="0" baseline="0" noProof="0" dirty="0">
              <a:ln>
                <a:noFill/>
              </a:ln>
              <a:solidFill>
                <a:srgbClr val="000000"/>
              </a:solidFill>
              <a:effectLst/>
              <a:uLnTx/>
              <a:uFillTx/>
              <a:latin typeface="Times New Roman" panose="02020603050405020304" pitchFamily="16" charset="0"/>
              <a:ea typeface="+mn-ea"/>
              <a:cs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7651"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7652" name="TextBox 3"/>
          <p:cNvSpPr txBox="1"/>
          <p:nvPr/>
        </p:nvSpPr>
        <p:spPr>
          <a:xfrm>
            <a:off x="649288" y="5686425"/>
            <a:ext cx="9059862" cy="369888"/>
          </a:xfrm>
          <a:prstGeom prst="rect">
            <a:avLst/>
          </a:prstGeom>
          <a:noFill/>
          <a:ln w="9525">
            <a:noFill/>
          </a:ln>
        </p:spPr>
        <p:txBody>
          <a:bodyPr>
            <a:spAutoFit/>
          </a:bodyPr>
          <a:p>
            <a:pPr algn="ctr"/>
            <a:r>
              <a:rPr lang="en-US" altLang="en-US" dirty="0">
                <a:latin typeface="Trebuchet MS" panose="020B0603020202020204" pitchFamily="34" charset="0"/>
              </a:rPr>
              <a:t>Fig.1: Home Page</a:t>
            </a:r>
            <a:endParaRPr lang="en-IN" altLang="en-US" dirty="0">
              <a:latin typeface="Trebuchet MS" panose="020B0603020202020204" pitchFamily="34" charset="0"/>
            </a:endParaRPr>
          </a:p>
        </p:txBody>
      </p:sp>
      <p:pic>
        <p:nvPicPr>
          <p:cNvPr id="2" name="Content Placeholder 1"/>
          <p:cNvPicPr>
            <a:picLocks noChangeAspect="1"/>
          </p:cNvPicPr>
          <p:nvPr>
            <p:ph idx="1"/>
          </p:nvPr>
        </p:nvPicPr>
        <p:blipFill>
          <a:blip r:embed="rId1"/>
          <a:stretch>
            <a:fillRect/>
          </a:stretch>
        </p:blipFill>
        <p:spPr>
          <a:xfrm>
            <a:off x="720090" y="899795"/>
            <a:ext cx="8970010" cy="4786630"/>
          </a:xfrm>
          <a:prstGeom prst="rect">
            <a:avLst/>
          </a:prstGeom>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 name="Title 3"/>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29699"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29700" name="TextBox 3"/>
          <p:cNvSpPr txBox="1"/>
          <p:nvPr/>
        </p:nvSpPr>
        <p:spPr>
          <a:xfrm>
            <a:off x="503238" y="6111875"/>
            <a:ext cx="9145587" cy="369888"/>
          </a:xfrm>
          <a:prstGeom prst="rect">
            <a:avLst/>
          </a:prstGeom>
          <a:noFill/>
          <a:ln w="9525">
            <a:noFill/>
          </a:ln>
        </p:spPr>
        <p:txBody>
          <a:bodyPr>
            <a:spAutoFit/>
          </a:bodyPr>
          <a:p>
            <a:pPr algn="ctr"/>
            <a:r>
              <a:rPr lang="en-US" altLang="en-US" dirty="0">
                <a:latin typeface="Trebuchet MS" panose="020B0603020202020204" pitchFamily="34" charset="0"/>
              </a:rPr>
              <a:t>Fig.2: Search page</a:t>
            </a:r>
            <a:endParaRPr lang="en-IN" altLang="en-US" dirty="0">
              <a:latin typeface="Trebuchet MS" panose="020B0603020202020204" pitchFamily="34" charset="0"/>
            </a:endParaRPr>
          </a:p>
        </p:txBody>
      </p:sp>
      <p:pic>
        <p:nvPicPr>
          <p:cNvPr id="3" name="Content Placeholder 2"/>
          <p:cNvPicPr>
            <a:picLocks noChangeAspect="1"/>
          </p:cNvPicPr>
          <p:nvPr>
            <p:ph idx="1"/>
          </p:nvPr>
        </p:nvPicPr>
        <p:blipFill>
          <a:blip r:embed="rId1"/>
          <a:stretch>
            <a:fillRect/>
          </a:stretch>
        </p:blipFill>
        <p:spPr>
          <a:xfrm>
            <a:off x="431800" y="1030605"/>
            <a:ext cx="8999220" cy="4577715"/>
          </a:xfrm>
          <a:prstGeom prst="rect">
            <a:avLst/>
          </a:prstGeom>
        </p:spPr>
      </p:pic>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1747"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1748" name="TextBox 3"/>
          <p:cNvSpPr txBox="1"/>
          <p:nvPr/>
        </p:nvSpPr>
        <p:spPr>
          <a:xfrm>
            <a:off x="503238" y="5810250"/>
            <a:ext cx="9137650" cy="369888"/>
          </a:xfrm>
          <a:prstGeom prst="rect">
            <a:avLst/>
          </a:prstGeom>
          <a:noFill/>
          <a:ln w="9525">
            <a:noFill/>
          </a:ln>
        </p:spPr>
        <p:txBody>
          <a:bodyPr>
            <a:spAutoFit/>
          </a:bodyPr>
          <a:p>
            <a:pPr algn="ctr"/>
            <a:r>
              <a:rPr lang="en-US" altLang="en-US" dirty="0">
                <a:latin typeface="Trebuchet MS" panose="020B0603020202020204" pitchFamily="34" charset="0"/>
              </a:rPr>
              <a:t>Fig.3: Predicted Prices</a:t>
            </a:r>
            <a:endParaRPr lang="en-IN" altLang="en-US" dirty="0">
              <a:latin typeface="Trebuchet MS" panose="020B0603020202020204" pitchFamily="34" charset="0"/>
            </a:endParaRPr>
          </a:p>
        </p:txBody>
      </p:sp>
      <p:pic>
        <p:nvPicPr>
          <p:cNvPr id="2" name="Content Placeholder 1"/>
          <p:cNvPicPr>
            <a:picLocks noChangeAspect="1"/>
          </p:cNvPicPr>
          <p:nvPr>
            <p:ph idx="1"/>
          </p:nvPr>
        </p:nvPicPr>
        <p:blipFill>
          <a:blip r:embed="rId1"/>
          <a:stretch>
            <a:fillRect/>
          </a:stretch>
        </p:blipFill>
        <p:spPr>
          <a:xfrm>
            <a:off x="648335" y="827405"/>
            <a:ext cx="8486140" cy="4723765"/>
          </a:xfrm>
          <a:prstGeom prst="rect">
            <a:avLst/>
          </a:prstGeom>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1747"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1748" name="TextBox 3"/>
          <p:cNvSpPr txBox="1"/>
          <p:nvPr/>
        </p:nvSpPr>
        <p:spPr>
          <a:xfrm>
            <a:off x="503238" y="5810250"/>
            <a:ext cx="9137650" cy="368300"/>
          </a:xfrm>
          <a:prstGeom prst="rect">
            <a:avLst/>
          </a:prstGeom>
          <a:noFill/>
          <a:ln w="9525">
            <a:noFill/>
          </a:ln>
        </p:spPr>
        <p:txBody>
          <a:bodyPr>
            <a:spAutoFit/>
          </a:bodyPr>
          <a:p>
            <a:pPr algn="ctr"/>
            <a:r>
              <a:rPr lang="en-US" altLang="en-US" dirty="0">
                <a:latin typeface="Trebuchet MS" panose="020B0603020202020204" pitchFamily="34" charset="0"/>
              </a:rPr>
              <a:t>Fig 4.: Latest Stock Market News</a:t>
            </a:r>
            <a:endParaRPr lang="en-IN" altLang="en-US" dirty="0">
              <a:latin typeface="Trebuchet MS" panose="020B0603020202020204" pitchFamily="34" charset="0"/>
            </a:endParaRPr>
          </a:p>
        </p:txBody>
      </p:sp>
      <p:pic>
        <p:nvPicPr>
          <p:cNvPr id="2" name="Content Placeholder 1"/>
          <p:cNvPicPr>
            <a:picLocks noChangeAspect="1"/>
          </p:cNvPicPr>
          <p:nvPr>
            <p:ph idx="1"/>
          </p:nvPr>
        </p:nvPicPr>
        <p:blipFill>
          <a:blip r:embed="rId1"/>
          <a:stretch>
            <a:fillRect/>
          </a:stretch>
        </p:blipFill>
        <p:spPr>
          <a:xfrm>
            <a:off x="432435" y="970915"/>
            <a:ext cx="9190355" cy="4641215"/>
          </a:xfrm>
          <a:prstGeom prst="rect">
            <a:avLst/>
          </a:prstGeom>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1747"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1748" name="TextBox 3"/>
          <p:cNvSpPr txBox="1"/>
          <p:nvPr/>
        </p:nvSpPr>
        <p:spPr>
          <a:xfrm>
            <a:off x="503238" y="5810250"/>
            <a:ext cx="9137650" cy="368300"/>
          </a:xfrm>
          <a:prstGeom prst="rect">
            <a:avLst/>
          </a:prstGeom>
          <a:noFill/>
          <a:ln w="9525">
            <a:noFill/>
          </a:ln>
        </p:spPr>
        <p:txBody>
          <a:bodyPr>
            <a:spAutoFit/>
          </a:bodyPr>
          <a:p>
            <a:pPr algn="ctr"/>
            <a:r>
              <a:rPr lang="en-US" altLang="en-US" dirty="0">
                <a:latin typeface="Trebuchet MS" panose="020B0603020202020204" pitchFamily="34" charset="0"/>
              </a:rPr>
              <a:t>Fig.5: Top Performing Stocks</a:t>
            </a:r>
            <a:endParaRPr lang="en-IN" altLang="en-US" dirty="0">
              <a:latin typeface="Trebuchet MS" panose="020B0603020202020204" pitchFamily="34" charset="0"/>
            </a:endParaRPr>
          </a:p>
        </p:txBody>
      </p:sp>
      <p:pic>
        <p:nvPicPr>
          <p:cNvPr id="5" name="Content Placeholder 4"/>
          <p:cNvPicPr>
            <a:picLocks noChangeAspect="1"/>
          </p:cNvPicPr>
          <p:nvPr>
            <p:ph idx="1"/>
          </p:nvPr>
        </p:nvPicPr>
        <p:blipFill>
          <a:blip r:embed="rId1"/>
          <a:stretch>
            <a:fillRect/>
          </a:stretch>
        </p:blipFill>
        <p:spPr>
          <a:xfrm>
            <a:off x="503555" y="899795"/>
            <a:ext cx="9029700" cy="4483735"/>
          </a:xfrm>
          <a:prstGeom prst="rect">
            <a:avLst/>
          </a:prstGeom>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endParaRPr lang="en-US"/>
          </a:p>
        </p:txBody>
      </p:sp>
      <p:sp>
        <p:nvSpPr>
          <p:cNvPr id="8194" name="Rectangle 1"/>
          <p:cNvSpPr>
            <a:spLocks noChangeArrowheads="1"/>
          </p:cNvSpPr>
          <p:nvPr/>
        </p:nvSpPr>
        <p:spPr bwMode="auto">
          <a:xfrm>
            <a:off x="360363" y="-23177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Implementation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1747"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US"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cs typeface="Times New Roman" panose="02020603050405020304" pitchFamily="16" charset="0"/>
            </a:endParaRPr>
          </a:p>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1748" name="TextBox 3"/>
          <p:cNvSpPr txBox="1"/>
          <p:nvPr/>
        </p:nvSpPr>
        <p:spPr>
          <a:xfrm>
            <a:off x="503238" y="5810250"/>
            <a:ext cx="9137650" cy="368300"/>
          </a:xfrm>
          <a:prstGeom prst="rect">
            <a:avLst/>
          </a:prstGeom>
          <a:noFill/>
          <a:ln w="9525">
            <a:noFill/>
          </a:ln>
        </p:spPr>
        <p:txBody>
          <a:bodyPr>
            <a:spAutoFit/>
          </a:bodyPr>
          <a:p>
            <a:pPr algn="ctr"/>
            <a:r>
              <a:rPr lang="en-US" altLang="en-US" dirty="0">
                <a:latin typeface="Trebuchet MS" panose="020B0603020202020204" pitchFamily="34" charset="0"/>
              </a:rPr>
              <a:t>Fig.6: Interactive Chatbot</a:t>
            </a:r>
            <a:endParaRPr lang="en-IN" altLang="en-US" dirty="0">
              <a:latin typeface="Trebuchet MS" panose="020B0603020202020204" pitchFamily="34" charset="0"/>
            </a:endParaRPr>
          </a:p>
        </p:txBody>
      </p:sp>
      <p:pic>
        <p:nvPicPr>
          <p:cNvPr id="4" name="Content Placeholder 3"/>
          <p:cNvPicPr>
            <a:picLocks noChangeAspect="1"/>
          </p:cNvPicPr>
          <p:nvPr>
            <p:ph idx="1"/>
          </p:nvPr>
        </p:nvPicPr>
        <p:blipFill>
          <a:blip r:embed="rId1"/>
          <a:stretch>
            <a:fillRect/>
          </a:stretch>
        </p:blipFill>
        <p:spPr>
          <a:xfrm>
            <a:off x="287655" y="899795"/>
            <a:ext cx="9496425" cy="4623435"/>
          </a:xfrm>
          <a:prstGeom prst="rect">
            <a:avLst/>
          </a:prstGeom>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Rectangle 1"/>
          <p:cNvSpPr>
            <a:spLocks noChangeArrowheads="1"/>
          </p:cNvSpPr>
          <p:nvPr/>
        </p:nvSpPr>
        <p:spPr bwMode="auto">
          <a:xfrm>
            <a:off x="503238" y="301625"/>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Conclusion </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3795"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3796" name="TextBox 2"/>
          <p:cNvSpPr txBox="1"/>
          <p:nvPr/>
        </p:nvSpPr>
        <p:spPr>
          <a:xfrm>
            <a:off x="503238" y="1382713"/>
            <a:ext cx="8569325" cy="3416300"/>
          </a:xfrm>
          <a:prstGeom prst="rect">
            <a:avLst/>
          </a:prstGeom>
          <a:noFill/>
          <a:ln w="9525">
            <a:noFill/>
          </a:ln>
        </p:spPr>
        <p:txBody>
          <a:bodyPr>
            <a:spAutoFit/>
          </a:bodyPr>
          <a:p>
            <a:pPr algn="just">
              <a:buNone/>
            </a:pPr>
            <a:r>
              <a:rPr lang="en-GB" altLang="en-US" sz="2400" dirty="0">
                <a:latin typeface="Times New Roman" panose="02020603050405020304" pitchFamily="16" charset="0"/>
                <a:cs typeface="Times New Roman" panose="02020603050405020304" pitchFamily="16" charset="0"/>
              </a:rPr>
              <a:t>In conclusion, our stock price prediction project has demonstrated the potential of advanced modeling techniques to improve the accuracy and reliability of forecasting stock market trends. By leveraging modern deep learning algorithms, such as Stacked LSTM, the project highlights the ability to capture complex patterns in historical data. Overall, it provides a solid foundation for more accurate and insightful stock price predictions, benefiting investors, financial analysts, and market professionals alike.</a:t>
            </a:r>
            <a:endParaRPr lang="en-US" altLang="en-US" sz="2400" dirty="0">
              <a:latin typeface="Times New Roman" panose="02020603050405020304" pitchFamily="16" charset="0"/>
              <a:cs typeface="Times New Roman" panose="02020603050405020304" pitchFamily="16" charset="0"/>
            </a:endParaRPr>
          </a:p>
          <a:p>
            <a:pPr algn="just">
              <a:buNone/>
            </a:pPr>
            <a:endParaRPr lang="en-US" altLang="en-US" sz="2400" dirty="0">
              <a:latin typeface="Times New Roman" panose="02020603050405020304" pitchFamily="16" charset="0"/>
              <a:ea typeface="Times New Roman" panose="02020603050405020304" pitchFamily="16"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
          <p:cNvSpPr>
            <a:spLocks noChangeArrowheads="1"/>
          </p:cNvSpPr>
          <p:nvPr/>
        </p:nvSpPr>
        <p:spPr bwMode="auto">
          <a:xfrm>
            <a:off x="549275" y="-165100"/>
            <a:ext cx="9070975" cy="1262063"/>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5pPr>
            <a:lvl6pPr marL="25146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6pPr>
            <a:lvl7pPr marL="29718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7pPr>
            <a:lvl8pPr marL="34290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8pPr>
            <a:lvl9pPr marL="3886200" indent="-228600" defTabSz="449580" eaLnBrk="0" fontAlgn="base" hangingPunct="0">
              <a:lnSpc>
                <a:spcPct val="93000"/>
              </a:lnSpc>
              <a:spcBef>
                <a:spcPct val="0"/>
              </a:spcBef>
              <a:spcAft>
                <a:spcPct val="0"/>
              </a:spcAft>
              <a:buClr>
                <a:srgbClr val="000000"/>
              </a:buClr>
              <a:buSzPct val="100000"/>
              <a:buFont typeface="Times New Roman" panose="02020603050405020304" pitchFamily="16" charset="0"/>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solidFill>
                  <a:schemeClr val="tx1"/>
                </a:solidFill>
                <a:latin typeface="Arial" panose="020B0604020202020204" pitchFamily="34" charset="0"/>
                <a:cs typeface="Noto Sans CJK SC Regular" charset="0"/>
              </a:defRPr>
            </a:lvl9pPr>
          </a:lstStyle>
          <a:p>
            <a:pPr marL="0" marR="0" lvl="0" indent="0" algn="l" defTabSz="457200" rtl="0" eaLnBrk="1" fontAlgn="auto" latinLnBrk="0" hangingPunct="1">
              <a:lnSpc>
                <a:spcPct val="93000"/>
              </a:lnSpc>
              <a:spcBef>
                <a:spcPts val="0"/>
              </a:spcBef>
              <a:spcAft>
                <a:spcPts val="0"/>
              </a:spcAft>
              <a:buClr>
                <a:srgbClr val="000000"/>
              </a:buClr>
              <a:buSzPct val="100000"/>
              <a:buFont typeface="Times New Roman" panose="02020603050405020304" pitchFamily="16" charset="0"/>
              <a:buNone/>
              <a:tabLst>
                <a:tab pos="448945" algn="l"/>
                <a:tab pos="898525" algn="l"/>
                <a:tab pos="1347470" algn="l"/>
                <a:tab pos="1797050" algn="l"/>
                <a:tab pos="2245995" algn="l"/>
                <a:tab pos="2695575" algn="l"/>
                <a:tab pos="3144520" algn="l"/>
                <a:tab pos="3594100" algn="l"/>
                <a:tab pos="4043045" algn="l"/>
                <a:tab pos="4492625" algn="l"/>
                <a:tab pos="4941570" algn="l"/>
                <a:tab pos="5391150" algn="l"/>
                <a:tab pos="5840095" algn="l"/>
                <a:tab pos="6289675" algn="l"/>
                <a:tab pos="6738620" algn="l"/>
                <a:tab pos="7188200" algn="l"/>
                <a:tab pos="7637145" algn="l"/>
                <a:tab pos="8086725" algn="l"/>
                <a:tab pos="8535670" algn="l"/>
                <a:tab pos="8985250" algn="l"/>
              </a:tabLst>
              <a:defRPr/>
            </a:pPr>
            <a:r>
              <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rPr>
              <a:t>References</a:t>
            </a:r>
            <a:endParaRPr kumimoji="0" lang="en-IN" altLang="en-US" sz="36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Times New Roman" panose="02020603050405020304" pitchFamily="16" charset="0"/>
              <a:ea typeface="+mn-ea"/>
              <a:cs typeface="DejaVu Sans" charset="0"/>
            </a:endParaRPr>
          </a:p>
        </p:txBody>
      </p:sp>
      <p:sp>
        <p:nvSpPr>
          <p:cNvPr id="35843" name="Rectangle 2"/>
          <p:cNvSpPr/>
          <p:nvPr/>
        </p:nvSpPr>
        <p:spPr>
          <a:xfrm>
            <a:off x="503238" y="1563688"/>
            <a:ext cx="9070975" cy="5194300"/>
          </a:xfrm>
          <a:prstGeom prst="rect">
            <a:avLst/>
          </a:prstGeom>
          <a:noFill/>
          <a:ln w="9525">
            <a:noFill/>
          </a:ln>
        </p:spPr>
        <p:txBody>
          <a:bodyPr lIns="0" tIns="21240" rIns="0" bIns="0"/>
          <a:p>
            <a:pPr marL="107950" defTabSz="457200" eaLnBrk="1" hangingPunct="1">
              <a:lnSpc>
                <a:spcPct val="93000"/>
              </a:lnSpc>
              <a:spcAft>
                <a:spcPts val="1415"/>
              </a:spcAft>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endParaRPr lang="en-IN" altLang="en-US" sz="2400" dirty="0">
              <a:solidFill>
                <a:srgbClr val="000000"/>
              </a:solidFill>
              <a:latin typeface="Times New Roman" panose="02020603050405020304" pitchFamily="16" charset="0"/>
              <a:ea typeface="Times New Roman" panose="02020603050405020304" pitchFamily="16" charset="0"/>
            </a:endParaRPr>
          </a:p>
        </p:txBody>
      </p:sp>
      <p:sp>
        <p:nvSpPr>
          <p:cNvPr id="35844" name="Content Placeholder 2"/>
          <p:cNvSpPr txBox="1"/>
          <p:nvPr/>
        </p:nvSpPr>
        <p:spPr>
          <a:xfrm>
            <a:off x="503238" y="801688"/>
            <a:ext cx="8677275" cy="5608637"/>
          </a:xfrm>
          <a:prstGeom prst="rect">
            <a:avLst/>
          </a:prstGeom>
          <a:noFill/>
          <a:ln w="9525">
            <a:noFill/>
          </a:ln>
        </p:spPr>
        <p:txBody>
          <a:bodyPr/>
          <a:lstStyle>
            <a:lvl1pPr marL="377825" indent="-377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900" kern="1200">
                <a:solidFill>
                  <a:srgbClr val="404040"/>
                </a:solidFill>
                <a:latin typeface="+mn-lt"/>
                <a:ea typeface="+mn-ea"/>
                <a:cs typeface="+mn-cs"/>
              </a:defRPr>
            </a:lvl1pPr>
            <a:lvl2pPr marL="817880" indent="-3143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700" kern="1200">
                <a:solidFill>
                  <a:srgbClr val="404040"/>
                </a:solidFill>
                <a:latin typeface="+mn-lt"/>
                <a:ea typeface="+mn-ea"/>
                <a:cs typeface="+mn-cs"/>
              </a:defRPr>
            </a:lvl2pPr>
            <a:lvl3pPr marL="1259205"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500" kern="1200">
                <a:solidFill>
                  <a:srgbClr val="404040"/>
                </a:solidFill>
                <a:latin typeface="+mn-lt"/>
                <a:ea typeface="+mn-ea"/>
                <a:cs typeface="+mn-cs"/>
              </a:defRPr>
            </a:lvl3pPr>
            <a:lvl4pPr marL="176403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4pPr>
            <a:lvl5pPr marL="2266950" indent="-250825" algn="l" defTabSz="503555" rtl="0" eaLnBrk="0" fontAlgn="base" hangingPunct="0">
              <a:spcBef>
                <a:spcPts val="1100"/>
              </a:spcBef>
              <a:spcAft>
                <a:spcPct val="0"/>
              </a:spcAft>
              <a:buClr>
                <a:schemeClr val="accent1"/>
              </a:buClr>
              <a:buSzPct val="80000"/>
              <a:buFont typeface="Wingdings 3" panose="05040102010807070707" pitchFamily="82" charset="2"/>
              <a:buChar char=""/>
              <a:defRPr sz="1300" kern="1200">
                <a:solidFill>
                  <a:srgbClr val="404040"/>
                </a:solidFill>
                <a:latin typeface="+mn-lt"/>
                <a:ea typeface="+mn-ea"/>
                <a:cs typeface="+mn-cs"/>
              </a:defRPr>
            </a:lvl5pPr>
          </a:lstStyle>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rPr>
              <a:t>[1] Patel, S. K., &amp; Jadhav, A. (2022). “Stock Price Prediction Using Regression and Machine Learning Techniques." 2022 IEEE International Conference on Smart Technology and Management (ICSTM). </a:t>
            </a:r>
            <a:r>
              <a:rPr lang="en-GB" altLang="en-US" sz="2400" dirty="0">
                <a:solidFill>
                  <a:srgbClr val="000000"/>
                </a:solidFill>
                <a:latin typeface="Times New Roman" panose="02020603050405020304" pitchFamily="16" charset="0"/>
                <a:cs typeface="Times New Roman" panose="02020603050405020304" pitchFamily="16" charset="0"/>
                <a:hlinkClick r:id="rId1"/>
              </a:rPr>
              <a:t>https://doi.org/10.1109/ICSTM53887.2022.9768004</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rPr>
              <a:t>[2] Stock Price Prediction And Forecasting Using Stacked LSTM</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rPr>
              <a:t>Deep Learning</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hlinkClick r:id="rId2"/>
              </a:rPr>
              <a:t>https://youtu.be/H6du_pfuznE?si=rbw87uY311D68Y_8</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rPr>
              <a:t>[3] Kumar, R., &amp; Singh, D. (2023). LSTM Deep Learning-Based Stock Price Prediction with Bollinger Bands.</a:t>
            </a:r>
            <a:br>
              <a:rPr lang="en-GB" altLang="en-US" sz="2400" dirty="0">
                <a:solidFill>
                  <a:srgbClr val="000000"/>
                </a:solidFill>
                <a:latin typeface="Times New Roman" panose="02020603050405020304" pitchFamily="16" charset="0"/>
                <a:cs typeface="Times New Roman" panose="02020603050405020304" pitchFamily="16" charset="0"/>
              </a:rPr>
            </a:br>
            <a:r>
              <a:rPr lang="en-GB" altLang="en-US" sz="2400" dirty="0">
                <a:solidFill>
                  <a:srgbClr val="000000"/>
                </a:solidFill>
                <a:latin typeface="Times New Roman" panose="02020603050405020304" pitchFamily="16" charset="0"/>
                <a:cs typeface="Times New Roman" panose="02020603050405020304" pitchFamily="16" charset="0"/>
              </a:rPr>
              <a:t>Published in Springer Journal of Financial Analytics and Decision Making.</a:t>
            </a:r>
            <a:endParaRPr lang="en-GB" altLang="en-US" sz="2400" dirty="0">
              <a:solidFill>
                <a:srgbClr val="000000"/>
              </a:solidFill>
              <a:latin typeface="Times New Roman" panose="02020603050405020304" pitchFamily="16" charset="0"/>
              <a:cs typeface="Times New Roman" panose="02020603050405020304" pitchFamily="16" charset="0"/>
            </a:endParaRPr>
          </a:p>
          <a:p>
            <a:pPr marL="0" lvl="0" indent="0" defTabSz="914400">
              <a:spcBef>
                <a:spcPct val="20000"/>
              </a:spcBef>
              <a:buClrTx/>
              <a:buSzTx/>
              <a:buNone/>
            </a:pPr>
            <a:r>
              <a:rPr lang="en-GB" altLang="en-US" sz="2400" dirty="0">
                <a:solidFill>
                  <a:srgbClr val="000000"/>
                </a:solidFill>
                <a:latin typeface="Times New Roman" panose="02020603050405020304" pitchFamily="16" charset="0"/>
                <a:cs typeface="Times New Roman" panose="02020603050405020304" pitchFamily="16" charset="0"/>
              </a:rPr>
              <a:t>[4] Chen, M. (2023). Forecasting Stock Prices Changes Using Long-Short Term Memory. Published in IEEE Transactions on Computational Finance and Economics.</a:t>
            </a:r>
            <a:endParaRPr lang="en-GB" altLang="en-US" sz="2400" dirty="0">
              <a:solidFill>
                <a:srgbClr val="000000"/>
              </a:solidFill>
              <a:latin typeface="Times New Roman" panose="02020603050405020304" pitchFamily="16" charset="0"/>
              <a:ea typeface="Times New Roman" panose="02020603050405020304" pitchFamily="16" charset="0"/>
            </a:endParaRP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7890" name="Rectangle 1"/>
          <p:cNvSpPr/>
          <p:nvPr/>
        </p:nvSpPr>
        <p:spPr>
          <a:xfrm>
            <a:off x="647700" y="3057525"/>
            <a:ext cx="9070975" cy="1262063"/>
          </a:xfrm>
          <a:prstGeom prst="rect">
            <a:avLst/>
          </a:prstGeom>
          <a:noFill/>
          <a:ln w="9525">
            <a:noFill/>
          </a:ln>
        </p:spPr>
        <p:txBody>
          <a:bodyPr lIns="0" tIns="31680" rIns="0" bIns="0" anchor="ctr" anchorCtr="0"/>
          <a:p>
            <a:pPr algn="ctr" defTabSz="457200" eaLnBrk="1" hangingPunct="1">
              <a:lnSpc>
                <a:spcPct val="93000"/>
              </a:lnSpc>
              <a:buClr>
                <a:srgbClr val="000000"/>
              </a:buClr>
              <a:buSzPct val="100000"/>
              <a:buFont typeface="Times New Roman" panose="02020603050405020304" pitchFamily="16" charset="0"/>
              <a:tabLst>
                <a:tab pos="449580" algn="l"/>
                <a:tab pos="898525" algn="l"/>
                <a:tab pos="1348105" algn="l"/>
                <a:tab pos="1797050" algn="l"/>
                <a:tab pos="2246630" algn="l"/>
                <a:tab pos="2695575" algn="l"/>
                <a:tab pos="3145155" algn="l"/>
                <a:tab pos="3594100" algn="l"/>
                <a:tab pos="4043680" algn="l"/>
                <a:tab pos="4492625" algn="l"/>
                <a:tab pos="4942205" algn="l"/>
                <a:tab pos="5391150" algn="l"/>
                <a:tab pos="5840730" algn="l"/>
                <a:tab pos="6289675" algn="l"/>
                <a:tab pos="6739255" algn="l"/>
                <a:tab pos="7188200" algn="l"/>
                <a:tab pos="7637780" algn="l"/>
                <a:tab pos="8086725" algn="l"/>
                <a:tab pos="8536305" algn="l"/>
                <a:tab pos="8985250" algn="l"/>
              </a:tabLst>
            </a:pPr>
            <a:r>
              <a:rPr lang="en-IN" altLang="en-US" sz="3600" b="1" dirty="0">
                <a:solidFill>
                  <a:srgbClr val="000000"/>
                </a:solidFill>
                <a:latin typeface="Times New Roman" panose="02020603050405020304" pitchFamily="16" charset="0"/>
                <a:cs typeface="DejaVu Sans" charset="0"/>
              </a:rPr>
              <a:t>Thank You...!!</a:t>
            </a:r>
            <a:endParaRPr lang="en-IN" altLang="en-US" sz="3600" b="1" dirty="0">
              <a:solidFill>
                <a:srgbClr val="000000"/>
              </a:solidFill>
              <a:latin typeface="Times New Roman" panose="02020603050405020304" pitchFamily="16" charset="0"/>
              <a:ea typeface="DejaVu Sans"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6817</Words>
  <Application>WPS Slides</Application>
  <PresentationFormat>Custom</PresentationFormat>
  <Paragraphs>290</Paragraphs>
  <Slides>21</Slides>
  <Notes>15</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21</vt:i4>
      </vt:variant>
    </vt:vector>
  </HeadingPairs>
  <TitlesOfParts>
    <vt:vector size="39" baseType="lpstr">
      <vt:lpstr>Arial</vt:lpstr>
      <vt:lpstr>SimSun</vt:lpstr>
      <vt:lpstr>Wingdings</vt:lpstr>
      <vt:lpstr>Trebuchet MS</vt:lpstr>
      <vt:lpstr>Wingdings 3</vt:lpstr>
      <vt:lpstr>Times New Roman</vt:lpstr>
      <vt:lpstr>DejaVu Sans</vt:lpstr>
      <vt:lpstr>Calibri</vt:lpstr>
      <vt:lpstr>Microsoft YaHei</vt:lpstr>
      <vt:lpstr>Segoe UI</vt:lpstr>
      <vt:lpstr>Tahoma</vt:lpstr>
      <vt:lpstr>Symbol</vt:lpstr>
      <vt:lpstr>Arial</vt:lpstr>
      <vt:lpstr>Noto Sans CJK SC Regular</vt:lpstr>
      <vt:lpstr>Segoe Print</vt:lpstr>
      <vt:lpstr>Arial Unicode MS</vt:lpstr>
      <vt:lpstr>Facet</vt:lpstr>
      <vt:lpstr>1_Facet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Darshan Korde Roll No. 21</cp:lastModifiedBy>
  <cp:revision>65</cp:revision>
  <dcterms:created xsi:type="dcterms:W3CDTF">2017-10-25T08:22:14Z</dcterms:created>
  <dcterms:modified xsi:type="dcterms:W3CDTF">2025-04-22T05:00:52Z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y fmtid="{D5CDD505-2E9C-101B-9397-08002B2CF9AE}" pid="12" name="ICV">
    <vt:lpwstr>685EE31417D34A84974AEEF04611410A_12</vt:lpwstr>
  </property>
  <property fmtid="{D5CDD505-2E9C-101B-9397-08002B2CF9AE}" pid="13" name="KSOProductBuildVer">
    <vt:lpwstr>1033-12.2.0.20795</vt:lpwstr>
  </property>
</Properties>
</file>